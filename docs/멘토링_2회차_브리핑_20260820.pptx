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f651c120a74e22" /><Relationship Type="http://schemas.openxmlformats.org/officeDocument/2006/relationships/extended-properties" Target="/docProps/app.xml" Id="R9d813bbabffb4275" /><Relationship Type="http://schemas.openxmlformats.org/officeDocument/2006/relationships/officeDocument" Target="/ppt/presentation.xml" Id="Rcb826fb00e8842eb" /></Relationships>
</file>

<file path=ppt/presentation.xml><?xml version="1.0" encoding="utf-8"?>
<p:presentation xmlns:p="http://schemas.openxmlformats.org/presentationml/2006/main">
  <p:sldMasterIdLst>
    <p:sldMasterId xmlns:r="http://schemas.openxmlformats.org/officeDocument/2006/relationships" id="2147483648" r:id="Rc1e18b5dc8b04160"/>
  </p:sldMasterIdLst>
  <p:notesMasterIdLst>
    <p:notesMasterId xmlns:r="http://schemas.openxmlformats.org/officeDocument/2006/relationships" r:id="R3f5c8f75f34b4aa9"/>
  </p:notesMasterIdLst>
  <p:sldIdLst>
    <p:sldId xmlns:r="http://schemas.openxmlformats.org/officeDocument/2006/relationships" id="256" r:id="R7ef51d6df16a46eb"/>
    <p:sldId xmlns:r="http://schemas.openxmlformats.org/officeDocument/2006/relationships" id="257" r:id="R9794aa0486184610"/>
    <p:sldId xmlns:r="http://schemas.openxmlformats.org/officeDocument/2006/relationships" id="258" r:id="Rca9f3e8793f94952"/>
    <p:sldId xmlns:r="http://schemas.openxmlformats.org/officeDocument/2006/relationships" id="259" r:id="Ree6e5c64255b4d76"/>
    <p:sldId xmlns:r="http://schemas.openxmlformats.org/officeDocument/2006/relationships" id="260" r:id="Rd2b3e8bb2d1c426f"/>
    <p:sldId xmlns:r="http://schemas.openxmlformats.org/officeDocument/2006/relationships" id="261" r:id="R779dc8654e574617"/>
    <p:sldId xmlns:r="http://schemas.openxmlformats.org/officeDocument/2006/relationships" id="262" r:id="Rdb2d745ef2894e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8fb689722647e7" /><Relationship Type="http://schemas.openxmlformats.org/officeDocument/2006/relationships/slideMaster" Target="/ppt/slideMasters/slideMaster1.xml" Id="Rc1e18b5dc8b04160" /><Relationship Type="http://schemas.openxmlformats.org/officeDocument/2006/relationships/notesMaster" Target="/ppt/notesMasters/notesMaster1.xml" Id="R3f5c8f75f34b4aa9" /><Relationship Type="http://schemas.openxmlformats.org/officeDocument/2006/relationships/presProps" Target="/ppt/presProps.xml" Id="Ra3d96df2cfd145da" /><Relationship Type="http://schemas.openxmlformats.org/officeDocument/2006/relationships/tableStyles" Target="/ppt/tableStyles.xml" Id="Rd3b5e6b6c60c47e8" /><Relationship Type="http://schemas.openxmlformats.org/officeDocument/2006/relationships/slide" Target="/ppt/slides/slide1.xml" Id="R7ef51d6df16a46eb" /><Relationship Type="http://schemas.openxmlformats.org/officeDocument/2006/relationships/slide" Target="/ppt/slides/slide2.xml" Id="R9794aa0486184610" /><Relationship Type="http://schemas.openxmlformats.org/officeDocument/2006/relationships/slide" Target="/ppt/slides/slide3.xml" Id="Rca9f3e8793f94952" /><Relationship Type="http://schemas.openxmlformats.org/officeDocument/2006/relationships/slide" Target="/ppt/slides/slide4.xml" Id="Ree6e5c64255b4d76" /><Relationship Type="http://schemas.openxmlformats.org/officeDocument/2006/relationships/slide" Target="/ppt/slides/slide5.xml" Id="Rd2b3e8bb2d1c426f" /><Relationship Type="http://schemas.openxmlformats.org/officeDocument/2006/relationships/slide" Target="/ppt/slides/slide6.xml" Id="R779dc8654e574617" /><Relationship Type="http://schemas.openxmlformats.org/officeDocument/2006/relationships/slide" Target="/ppt/slides/slide7.xml" Id="Rdb2d745ef2894e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7c4621238142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d983fa525b49cb" /><Relationship Type="http://schemas.openxmlformats.org/officeDocument/2006/relationships/notesMaster" Target="/ppt/notesMasters/notesMaster1.xml" Id="R8304dbf8878740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1b9fb837334c23" /><Relationship Type="http://schemas.openxmlformats.org/officeDocument/2006/relationships/notesMaster" Target="/ppt/notesMasters/notesMaster1.xml" Id="Rd06e3a1b96c448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1c2c72b37a4211" /><Relationship Type="http://schemas.openxmlformats.org/officeDocument/2006/relationships/notesMaster" Target="/ppt/notesMasters/notesMaster1.xml" Id="Racd59f4a146246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1300fcd81b4432" /><Relationship Type="http://schemas.openxmlformats.org/officeDocument/2006/relationships/notesMaster" Target="/ppt/notesMasters/notesMaster1.xml" Id="R5ba8959e4f6548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ca69adaf1f412e" /><Relationship Type="http://schemas.openxmlformats.org/officeDocument/2006/relationships/notesMaster" Target="/ppt/notesMasters/notesMaster1.xml" Id="R887114eb8b274b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cce4cda67e4f7a" /><Relationship Type="http://schemas.openxmlformats.org/officeDocument/2006/relationships/notesMaster" Target="/ppt/notesMasters/notesMaster1.xml" Id="Rbb3a811fad1c4d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a4ae4461b94319" /><Relationship Type="http://schemas.openxmlformats.org/officeDocument/2006/relationships/notesMaster" Target="/ppt/notesMasters/notesMaster1.xml" Id="Rbbb20841f7da48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AI 헬스케어 5기 2조입니다. 오늘은 지난 멘토링에서 받은 피드백을 저희가 어떤 선택과 구현 기준으로 바꿨는지, 그리고 실제 데이터 실험에서 무엇을 확인했는지 간단히 보고드리겠습니다. 마지막에는 다음 구현을 위해 멘토님께 꼭 확인받고 싶은 네 가지 질문을 드리겠습니다.</a:t>
            </a:r>
          </a:p>
          <a:p xmlns:a="http://schemas.openxmlformats.org/drawingml/2006/main">
            <a:r>
              <a:t/>
            </a:r>
          </a:p>
          <a:p xmlns:a="http://schemas.openxmlformats.org/drawingml/2006/main">
            <a:r>
              <a:t>[Sources]</a:t>
            </a:r>
          </a:p>
          <a:p xmlns:a="http://schemas.openxmlformats.org/drawingml/2006/main">
            <a:r>
              <a:t>- Notion 멘토링 2회차 사전보고: https://app.notion.com/p/2-3aacaf5650aa80898f5ad3e26fe844af?p=3c1caf5650aa80ac807ef04d85d1f662&amp;pm=s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번째로 범위를 당뇨병 하나로 좁혔습니다. 두 번째로 예측 문제를 현재 상태 분류가 아니라 미래 신규 발병 이진분류로 명확히 했습니다. 세 번째로 서비스 이용 연령과 핵심 타깃 연령, 모델의 실제 적용 연령을 분리했습니다. 마지막으로 원시 확률보다 위험 범주를 우선하고, 기진단자는 모델 입력 단계에서 차단하도록 안전 기준을 세웠습니다.</a:t>
            </a:r>
          </a:p>
          <a:p xmlns:a="http://schemas.openxmlformats.org/drawingml/2006/main">
            <a:r>
              <a:t/>
            </a:r>
          </a:p>
          <a:p xmlns:a="http://schemas.openxmlformats.org/drawingml/2006/main">
            <a:r>
              <a:t>[Sources]</a:t>
            </a:r>
          </a:p>
          <a:p xmlns:a="http://schemas.openxmlformats.org/drawingml/2006/main">
            <a:r>
              <a:t>- docs/REQUIREMENTS.md v2.0</a:t>
            </a:r>
          </a:p>
          <a:p xmlns:a="http://schemas.openxmlformats.org/drawingml/2006/main">
            <a:r>
              <a:t>- docs/SERVICE_SCOPE_AND_SAFETY_COPY.md</a:t>
            </a:r>
          </a:p>
          <a:p xmlns:a="http://schemas.openxmlformats.org/drawingml/2006/main">
            <a:r>
              <a:t>- 1회차 멘토링 통합 정리</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연령 이슈는 한 숫자로 정리하지 않고 세 단계로 나눴습니다. 만 19세 이상이면 서비스는 이용할 수 있지만, 핵심 기획 타깃은 40대 이상 미진단자입니다. 실제 개인화 예측은 활성 모델 카드에서 검증된 연령과 모집단에만 제공합니다. 특히 KLoSA 최초 표본 특성상 40세에서 44세는 근거가 부족하므로 단독 미래 예측을 막고, 안내와 일반 건강교육만 제공하는 방향입니다.</a:t>
            </a:r>
          </a:p>
          <a:p xmlns:a="http://schemas.openxmlformats.org/drawingml/2006/main">
            <a:r>
              <a:t/>
            </a:r>
          </a:p>
          <a:p xmlns:a="http://schemas.openxmlformats.org/drawingml/2006/main">
            <a:r>
              <a:t>[Sources]</a:t>
            </a:r>
          </a:p>
          <a:p xmlns:a="http://schemas.openxmlformats.org/drawingml/2006/main">
            <a:r>
              <a:t>- docs/REQUIREMENTS.md §2</a:t>
            </a:r>
          </a:p>
          <a:p xmlns:a="http://schemas.openxmlformats.org/drawingml/2006/main">
            <a:r>
              <a:t>- docs/API_SPEC.md</a:t>
            </a:r>
          </a:p>
          <a:p xmlns:a="http://schemas.openxmlformats.org/drawingml/2006/main">
            <a:r>
              <a:t>- KLoSA 조사설계 메타데이터</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공통 변수 다섯 개와 축소 표본으로 베이스라인을 먼저 돌렸습니다. KLoSA와 국민건강영양조사 모두 로지스틱 회귀가 랜덤포레스트보다 판별력이 높았습니다. 다만 양성 비율이 낮아 AUPRC가 낮고 보정도 충분하지 않습니다. 또 KLoSA는 미래 신규발병, 국민건강영양조사는 현재 위험 신호이므로 두 데이터의 숫자를 직접 비교하면 안 됩니다. 따라서 지금 결과는 모델 확정이 아니라 파이프라인과 위험을 조기에 확인한 결과입니다.</a:t>
            </a:r>
          </a:p>
          <a:p xmlns:a="http://schemas.openxmlformats.org/drawingml/2006/main">
            <a:r>
              <a:t/>
            </a:r>
          </a:p>
          <a:p xmlns:a="http://schemas.openxmlformats.org/drawingml/2006/main">
            <a:r>
              <a:t>[Sources]</a:t>
            </a:r>
          </a:p>
          <a:p xmlns:a="http://schemas.openxmlformats.org/drawingml/2006/main">
            <a:r>
              <a:t>- GitHub Draft PR #4: https://github.com/AI-HealthCare-05/AH_05_02/pull/4</a:t>
            </a:r>
          </a:p>
          <a:p xmlns:a="http://schemas.openxmlformats.org/drawingml/2006/main">
            <a:r>
              <a:t>- 축소 베이스라인 실험 결과, seed=20260819</a:t>
            </a:r>
          </a:p>
          <a:p xmlns:a="http://schemas.openxmlformats.org/drawingml/2006/main">
            <a:r>
              <a:t>- docs/DAILY_TASK_20260819_SEJUN.md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기획 결정은 문서에만 두지 않고 기술 계약으로 연결했습니다. 적합성 검사는 서버에서도 다시 확인합니다. 예측 작업 경로는 prediction-jobs로 통일했고 상태는 queued, running, succeeded, failed 네 가지입니다. Redis에는 빠르게 사라져도 되는 단기 작업 상태를, DB에는 요청과 완료·실패, 모델 버전과 결과 같은 최소 이력을 보존합니다. 결과 범주는 threshold version이 승인된 경우에만 사용자에게 노출합니다.</a:t>
            </a:r>
          </a:p>
          <a:p xmlns:a="http://schemas.openxmlformats.org/drawingml/2006/main">
            <a:r>
              <a:t/>
            </a:r>
          </a:p>
          <a:p xmlns:a="http://schemas.openxmlformats.org/drawingml/2006/main">
            <a:r>
              <a:t>[Sources]</a:t>
            </a:r>
          </a:p>
          <a:p xmlns:a="http://schemas.openxmlformats.org/drawingml/2006/main">
            <a:r>
              <a:t>- docs/API_SPEC.md v2.0</a:t>
            </a:r>
          </a:p>
          <a:p xmlns:a="http://schemas.openxmlformats.org/drawingml/2006/main">
            <a:r>
              <a:t>- docs/TRACEABILITY_AND_GAP_QA_20260819.md</a:t>
            </a:r>
          </a:p>
          <a:p xmlns:a="http://schemas.openxmlformats.org/drawingml/2006/main">
            <a:r>
              <a:t>- docs/REQUIREMENTS.md §7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요구사항과 API 명세, 의료 안전 문구, 추적성 문서와 축소 베이스라인까지는 준비됐습니다. 문서 계약 테스트는 11개가 통과했고, 베이스라인 작업 브랜치에서는 17개 테스트를 통과했습니다. 이제 남은 핵심은 전체 표본 검증과 보정, 실제 API·DB·프론트 연결, 그리고 Docker 환경에서 세로 흐름을 끝까지 통과시키는 것입니다.</a:t>
            </a:r>
          </a:p>
          <a:p xmlns:a="http://schemas.openxmlformats.org/drawingml/2006/main">
            <a:r>
              <a:t/>
            </a:r>
          </a:p>
          <a:p xmlns:a="http://schemas.openxmlformats.org/drawingml/2006/main">
            <a:r>
              <a:t>[Sources]</a:t>
            </a:r>
          </a:p>
          <a:p xmlns:a="http://schemas.openxmlformats.org/drawingml/2006/main">
            <a:r>
              <a:t>- docs/SPRINT2_BACKLOG.md</a:t>
            </a:r>
          </a:p>
          <a:p xmlns:a="http://schemas.openxmlformats.org/drawingml/2006/main">
            <a:r>
              <a:t>- docs/TRACEABILITY_AND_GAP_QA_20260819.md</a:t>
            </a:r>
          </a:p>
          <a:p xmlns:a="http://schemas.openxmlformats.org/drawingml/2006/main">
            <a:r>
              <a:t>- GitHub Draft PR #4: https://github.com/AI-HealthCare-05/AH_05_02/pull/4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네 가지를 확인받고 싶습니다. 첫째, 현재 AUPRC가 낮더라도 문제 정의의 일관성을 위해 KLoSA 미래 발병 예측을 유지하는 것이 맞는지입니다. 둘째, 근거가 부족한 40세에서 44세에게는 예측 대신 안내만 제공하는 방식이 적절한지입니다. 셋째, 임계값을 정할 때 놓치는 고위험자를 줄이는 민감도와 불필요한 경고를 줄이는 특이도 중 어떤 비용을 더 크게 봐야 하는지입니다. 넷째, 현재 규모에서도 Redis 비동기 워커 구조를 유지하는 것이 실무 경험과 MVP 균형에 적절한지 피드백을 부탁드립니다. 오늘 결정된 내용은 모델 카드와 API, 화면, 테스트에 바로 반영하겠습니다.</a:t>
            </a:r>
          </a:p>
          <a:p xmlns:a="http://schemas.openxmlformats.org/drawingml/2006/main">
            <a:r>
              <a:t/>
            </a:r>
          </a:p>
          <a:p xmlns:a="http://schemas.openxmlformats.org/drawingml/2006/main">
            <a:r>
              <a:t>[Sources]</a:t>
            </a:r>
          </a:p>
          <a:p xmlns:a="http://schemas.openxmlformats.org/drawingml/2006/main">
            <a:r>
              <a:t>- docs/SPRINT2_BACKLOG.md §6</a:t>
            </a:r>
          </a:p>
          <a:p xmlns:a="http://schemas.openxmlformats.org/drawingml/2006/main">
            <a:r>
              <a:t>- docs/TRACEABILITY_AND_GAP_QA_20260819.md §5</a:t>
            </a:r>
          </a:p>
          <a:p xmlns:a="http://schemas.openxmlformats.org/drawingml/2006/main">
            <a:r>
              <a:t>- 축소 베이스라인 실험 결과</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c7ed8308b74e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3b4ebf924b466f" /><Relationship Type="http://schemas.openxmlformats.org/officeDocument/2006/relationships/slideLayout" Target="/ppt/slideLayouts/slideLayout1.xml" Id="Rf5298802177941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298802177941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36da0b7b21425e" /><Relationship Type="http://schemas.openxmlformats.org/officeDocument/2006/relationships/notesSlide" Target="/ppt/notesSlides/notesSlide1.xml" Id="R7aae1cb7a2e442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8754d33cd14f8f" /><Relationship Type="http://schemas.openxmlformats.org/officeDocument/2006/relationships/notesSlide" Target="/ppt/notesSlides/notesSlide2.xml" Id="R7e564584166545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63fced4f964082" /><Relationship Type="http://schemas.openxmlformats.org/officeDocument/2006/relationships/notesSlide" Target="/ppt/notesSlides/notesSlide3.xml" Id="R739a5ae56a0042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6480e9107445fc" /><Relationship Type="http://schemas.openxmlformats.org/officeDocument/2006/relationships/chart" Target="/ppt/slides/charts/chart1.xml" Id="Rd4cf998046e144b9" /><Relationship Type="http://schemas.openxmlformats.org/officeDocument/2006/relationships/notesSlide" Target="/ppt/notesSlides/notesSlide4.xml" Id="Rb501a768697642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a9c200b35d4a9f" /><Relationship Type="http://schemas.openxmlformats.org/officeDocument/2006/relationships/notesSlide" Target="/ppt/notesSlides/notesSlide5.xml" Id="R91bb449657414b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6c19622460453d" /><Relationship Type="http://schemas.openxmlformats.org/officeDocument/2006/relationships/notesSlide" Target="/ppt/notesSlides/notesSlide6.xml" Id="R2cce3dcfe6ae41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c9371c6cc9d4b9d" /><Relationship Type="http://schemas.openxmlformats.org/officeDocument/2006/relationships/notesSlide" Target="/ppt/notesSlides/notesSlide7.xml" Id="R63957f3a0a9345b6" /></Relationships>
</file>

<file path=ppt/slides/charts/chart1.xml><?xml version="1.0" encoding="utf-8"?>
<c:chartSpace xmlns:c="http://schemas.openxmlformats.org/drawingml/2006/chart">
  <c:lang val="en-US"/>
  <c:chart>
    <c:plotArea>
      <c:barChart>
        <c:barDir val="col"/>
        <c:grouping val="clustered"/>
        <c:varyColors val="0"/>
        <c:ser>
          <c:idx val="0"/>
          <c:order val="0"/>
          <c:tx>
            <c:v>AUROC</c:v>
          </c:tx>
          <c:spPr>
            <a:solidFill xmlns:a="http://schemas.openxmlformats.org/drawingml/2006/main">
              <a:srgbClr val="3D8DFF"/>
            </a:solidFill>
          </c:spPr>
          <c:cat>
            <c:strLit>
              <c:ptCount val="4"/>
              <c:pt idx="0">
                <c:v>KLoSA LR</c:v>
              </c:pt>
              <c:pt idx="1">
                <c:v>KLoSA RF</c:v>
              </c:pt>
              <c:pt idx="2">
                <c:v>KNHANES LR</c:v>
              </c:pt>
              <c:pt idx="3">
                <c:v>KNHANES RF</c:v>
              </c:pt>
            </c:strLit>
          </c:cat>
          <c:val>
            <c:numLit>
              <c:formatCode>0.000</c:formatCode>
              <c:ptCount val="4"/>
              <c:pt idx="0">
                <c:v>0.641</c:v>
              </c:pt>
              <c:pt idx="1">
                <c:v>0.581</c:v>
              </c:pt>
              <c:pt idx="2">
                <c:v>0.745</c:v>
              </c:pt>
              <c:pt idx="3">
                <c:v>0.697</c:v>
              </c:pt>
            </c:numLit>
          </c:val>
        </c:ser>
        <c:ser>
          <c:idx val="1"/>
          <c:order val="1"/>
          <c:tx>
            <c:v>AUPRC</c:v>
          </c:tx>
          <c:spPr>
            <a:solidFill xmlns:a="http://schemas.openxmlformats.org/drawingml/2006/main">
              <a:srgbClr val="6DCBF4"/>
            </a:solidFill>
          </c:spPr>
          <c:cat>
            <c:strLit>
              <c:ptCount val="4"/>
              <c:pt idx="0">
                <c:v>KLoSA LR</c:v>
              </c:pt>
              <c:pt idx="1">
                <c:v>KLoSA RF</c:v>
              </c:pt>
              <c:pt idx="2">
                <c:v>KNHANES LR</c:v>
              </c:pt>
              <c:pt idx="3">
                <c:v>KNHANES RF</c:v>
              </c:pt>
            </c:strLit>
          </c:cat>
          <c:val>
            <c:numLit>
              <c:formatCode>0.000</c:formatCode>
              <c:ptCount val="4"/>
              <c:pt idx="0">
                <c:v>0.042</c:v>
              </c:pt>
              <c:pt idx="1">
                <c:v>0.033</c:v>
              </c:pt>
              <c:pt idx="2">
                <c:v>0.108</c:v>
              </c:pt>
              <c:pt idx="3">
                <c:v>0.101</c:v>
              </c:pt>
            </c:numLit>
          </c:val>
        </c:ser>
        <c:dLbls>
          <c:txPr>
            <a:bodyPr xmlns:a="http://schemas.openxmlformats.org/drawingml/2006/main" anchorCtr="1"/>
            <a:lstStyle xmlns:a="http://schemas.openxmlformats.org/drawingml/2006/main"/>
            <a:p xmlns:a="http://schemas.openxmlformats.org/drawingml/2006/main">
              <a:pPr>
                <a:defRPr sz="1050" b="1">
                  <a:solidFill>
                    <a:srgbClr val="111111"/>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606A"/>
                </a:solidFill>
              </a:defRPr>
            </a:pPr>
          </a:p>
        </c:txPr>
        <c:crossAx val="48672768"/>
      </c:catAx>
      <c:valAx>
        <c:axId val="48672768"/>
        <c:scaling>
          <c:orientation val="minMax"/>
          <c:max val="0.8"/>
          <c:min val="0"/>
        </c:scaling>
        <c:delete val="0"/>
        <c:axPos val="l"/>
        <c:majorGridlines>
          <c:spPr>
            <a:ln xmlns:a="http://schemas.openxmlformats.org/drawingml/2006/main" w="9525">
              <a:solidFill>
                <a:srgbClr val="E5E7EB"/>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9606A"/>
                </a:solidFill>
              </a:defRPr>
            </a:pPr>
          </a:p>
        </c:txPr>
        <c:crossAx val="48650112"/>
        <c:crossBetween val="between"/>
        <c:majorUnit val="0.2"/>
      </c:valAx>
      <c:spPr>
        <a:solidFill xmlns:a="http://schemas.openxmlformats.org/drawingml/2006/main">
          <a:srgbClr val="FFFFFF"/>
        </a:solidFill>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59606A"/>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46ADD5-4527-4848-8C61-29090FE035AD}"/>
              </a:ext>
            </a:extLst>
          </p:cNvPr>
          <p:cNvSpPr>
            <a:spLocks xmlns:a="http://schemas.openxmlformats.org/drawingml/2006/main" noGrp="1"/>
          </p:cNvSpPr>
          <p:nvPr/>
        </p:nvSpPr>
        <p:spPr>
          <a:xfrm xmlns:a="http://schemas.openxmlformats.org/drawingml/2006/main">
            <a:off x="609600" y="5143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AI 헬스케어 5기 · 2조</a:t>
            </a:r>
          </a:p>
        </p:txBody>
      </p:sp>
      <p:sp>
        <p:nvSpPr>
          <p:cNvPr id="2" name="">
            <a:extLst xmlns:a="http://schemas.openxmlformats.org/drawingml/2006/main">
              <a:ext uri="{FF2B5EF4-FFF2-40B4-BE49-F238E27FC236}">
                <a16:creationId xmlns:a16="http://schemas.microsoft.com/office/drawing/2014/main" id="{58666BCF-70A8-46F2-8887-103D0D69F328}"/>
              </a:ext>
            </a:extLst>
          </p:cNvPr>
          <p:cNvSpPr>
            <a:spLocks xmlns:a="http://schemas.openxmlformats.org/drawingml/2006/main" noGrp="1"/>
          </p:cNvSpPr>
          <p:nvPr/>
        </p:nvSpPr>
        <p:spPr>
          <a:xfrm xmlns:a="http://schemas.openxmlformats.org/drawingml/2006/main">
            <a:off x="609600" y="1619250"/>
            <a:ext cx="723900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700" b="1">
                <a:solidFill>
                  <a:srgbClr val="111111"/>
                </a:solidFill>
              </a:defRPr>
            </a:pPr>
            <a:r>
              <a:rPr sz="5700" b="1">
                <a:solidFill>
                  <a:srgbClr val="111111"/>
                </a:solidFill>
              </a:rPr>
              <a:t>멘토링 2회차</a:t>
            </a:r>
          </a:p>
          <a:p xmlns:a="http://schemas.openxmlformats.org/drawingml/2006/main">
            <a:pPr algn="l">
              <a:defRPr sz="5700" b="1">
                <a:solidFill>
                  <a:srgbClr val="111111"/>
                </a:solidFill>
              </a:defRPr>
            </a:pPr>
            <a:r>
              <a:rPr sz="5700" b="1">
                <a:solidFill>
                  <a:srgbClr val="111111"/>
                </a:solidFill>
              </a:rPr>
              <a:t>브리핑</a:t>
            </a:r>
          </a:p>
        </p:txBody>
      </p:sp>
      <p:sp>
        <p:nvSpPr>
          <p:cNvPr id="3" name="">
            <a:extLst xmlns:a="http://schemas.openxmlformats.org/drawingml/2006/main">
              <a:ext uri="{FF2B5EF4-FFF2-40B4-BE49-F238E27FC236}">
                <a16:creationId xmlns:a16="http://schemas.microsoft.com/office/drawing/2014/main" id="{2EEBA469-AEB9-43EB-A559-880465E22C76}"/>
              </a:ext>
            </a:extLst>
          </p:cNvPr>
          <p:cNvSpPr>
            <a:spLocks xmlns:a="http://schemas.openxmlformats.org/drawingml/2006/main" noGrp="1"/>
          </p:cNvSpPr>
          <p:nvPr/>
        </p:nvSpPr>
        <p:spPr>
          <a:xfrm xmlns:a="http://schemas.openxmlformats.org/drawingml/2006/main">
            <a:off x="647700" y="3714750"/>
            <a:ext cx="819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0">
                <a:solidFill>
                  <a:srgbClr val="59606A"/>
                </a:solidFill>
              </a:defRPr>
            </a:pPr>
            <a:r>
              <a:rPr sz="2025" b="0">
                <a:solidFill>
                  <a:srgbClr val="59606A"/>
                </a:solidFill>
              </a:rPr>
              <a:t>1회차 피드백을 구현 기준과 실험으로 환류했습니다</a:t>
            </a:r>
          </a:p>
        </p:txBody>
      </p:sp>
      <p:sp>
        <p:nvSpPr>
          <p:cNvPr id="4" name="">
            <a:extLst xmlns:a="http://schemas.openxmlformats.org/drawingml/2006/main">
              <a:ext uri="{FF2B5EF4-FFF2-40B4-BE49-F238E27FC236}">
                <a16:creationId xmlns:a16="http://schemas.microsoft.com/office/drawing/2014/main" id="{958DF48B-3F36-48AC-856D-FBB81F67A71D}"/>
              </a:ext>
            </a:extLst>
          </p:cNvPr>
          <p:cNvSpPr>
            <a:spLocks xmlns:a="http://schemas.openxmlformats.org/drawingml/2006/main" noGrp="1"/>
          </p:cNvSpPr>
          <p:nvPr/>
        </p:nvSpPr>
        <p:spPr>
          <a:xfrm xmlns:a="http://schemas.openxmlformats.org/drawingml/2006/main">
            <a:off x="609600" y="4953000"/>
            <a:ext cx="10972800" cy="190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5" name="">
            <a:extLst xmlns:a="http://schemas.openxmlformats.org/drawingml/2006/main">
              <a:ext uri="{FF2B5EF4-FFF2-40B4-BE49-F238E27FC236}">
                <a16:creationId xmlns:a16="http://schemas.microsoft.com/office/drawing/2014/main" id="{F39F7526-9F38-4A77-A93A-30BB960EA7C5}"/>
              </a:ext>
            </a:extLst>
          </p:cNvPr>
          <p:cNvSpPr>
            <a:spLocks xmlns:a="http://schemas.openxmlformats.org/drawingml/2006/main" noGrp="1"/>
          </p:cNvSpPr>
          <p:nvPr/>
        </p:nvSpPr>
        <p:spPr>
          <a:xfrm xmlns:a="http://schemas.openxmlformats.org/drawingml/2006/main">
            <a:off x="609600" y="52197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defRPr>
            </a:pPr>
            <a:r>
              <a:rPr sz="1650" b="1">
                <a:solidFill>
                  <a:srgbClr val="111111"/>
                </a:solidFill>
              </a:rPr>
              <a:t>만성질환 생활습관 챌린지 웹서비스</a:t>
            </a:r>
          </a:p>
        </p:txBody>
      </p:sp>
      <p:sp>
        <p:nvSpPr>
          <p:cNvPr id="6" name="">
            <a:extLst xmlns:a="http://schemas.openxmlformats.org/drawingml/2006/main">
              <a:ext uri="{FF2B5EF4-FFF2-40B4-BE49-F238E27FC236}">
                <a16:creationId xmlns:a16="http://schemas.microsoft.com/office/drawing/2014/main" id="{7E8FACE6-E98E-488D-95CA-0F0B6B77ED3B}"/>
              </a:ext>
            </a:extLst>
          </p:cNvPr>
          <p:cNvSpPr>
            <a:spLocks xmlns:a="http://schemas.openxmlformats.org/drawingml/2006/main" noGrp="1"/>
          </p:cNvSpPr>
          <p:nvPr/>
        </p:nvSpPr>
        <p:spPr>
          <a:xfrm xmlns:a="http://schemas.openxmlformats.org/drawingml/2006/main">
            <a:off x="609600" y="56388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9606A"/>
                </a:solidFill>
              </a:defRPr>
            </a:pPr>
            <a:r>
              <a:rPr sz="1350" b="0">
                <a:solidFill>
                  <a:srgbClr val="59606A"/>
                </a:solidFill>
              </a:rPr>
              <a:t>정세준 · 박빛샘 · 양준혁 · 이수인</a:t>
            </a:r>
          </a:p>
        </p:txBody>
      </p:sp>
      <p:sp>
        <p:nvSpPr>
          <p:cNvPr id="7" name="">
            <a:extLst xmlns:a="http://schemas.openxmlformats.org/drawingml/2006/main">
              <a:ext uri="{FF2B5EF4-FFF2-40B4-BE49-F238E27FC236}">
                <a16:creationId xmlns:a16="http://schemas.microsoft.com/office/drawing/2014/main" id="{F1B10CE6-26C1-46F2-9B85-AA6CAB7DED2A}"/>
              </a:ext>
            </a:extLst>
          </p:cNvPr>
          <p:cNvSpPr>
            <a:spLocks xmlns:a="http://schemas.openxmlformats.org/drawingml/2006/main" noGrp="1"/>
          </p:cNvSpPr>
          <p:nvPr/>
        </p:nvSpPr>
        <p:spPr>
          <a:xfrm xmlns:a="http://schemas.openxmlformats.org/drawingml/2006/main">
            <a:off x="9677400" y="563880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0">
                <a:solidFill>
                  <a:srgbClr val="59606A"/>
                </a:solidFill>
              </a:defRPr>
            </a:pPr>
            <a:r>
              <a:rPr sz="1350" b="0">
                <a:solidFill>
                  <a:srgbClr val="59606A"/>
                </a:solidFill>
              </a:rPr>
              <a:t>2026.08.20</a:t>
            </a:r>
          </a:p>
        </p:txBody>
      </p:sp>
    </p:spTree>
    <p:extLst>
      <p:ext uri="{BB962C8B-B14F-4D97-AF65-F5344CB8AC3E}">
        <p14:creationId xmlns:p14="http://schemas.microsoft.com/office/powerpoint/2010/main" val="20643299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795FFEF-CEC7-4389-88F8-DC38D4354403}"/>
              </a:ext>
            </a:extLst>
          </p:cNvPr>
          <p:cNvSpPr>
            <a:spLocks xmlns:a="http://schemas.openxmlformats.org/drawingml/2006/main" noGrp="1"/>
          </p:cNvSpPr>
          <p:nvPr/>
        </p:nvSpPr>
        <p:spPr>
          <a:xfrm xmlns:a="http://schemas.openxmlformats.org/drawingml/2006/main">
            <a:off x="609600" y="3429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01 · FEEDBACK TO DECISIONS</a:t>
            </a:r>
          </a:p>
        </p:txBody>
      </p:sp>
      <p:sp>
        <p:nvSpPr>
          <p:cNvPr id="2" name="">
            <a:extLst xmlns:a="http://schemas.openxmlformats.org/drawingml/2006/main">
              <a:ext uri="{FF2B5EF4-FFF2-40B4-BE49-F238E27FC236}">
                <a16:creationId xmlns:a16="http://schemas.microsoft.com/office/drawing/2014/main" id="{73F0EC93-537D-402E-869C-102D963FD021}"/>
              </a:ext>
            </a:extLst>
          </p:cNvPr>
          <p:cNvSpPr>
            <a:spLocks xmlns:a="http://schemas.openxmlformats.org/drawingml/2006/main" noGrp="1"/>
          </p:cNvSpPr>
          <p:nvPr/>
        </p:nvSpPr>
        <p:spPr>
          <a:xfrm xmlns:a="http://schemas.openxmlformats.org/drawingml/2006/main">
            <a:off x="609600" y="7239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11111"/>
                </a:solidFill>
              </a:defRPr>
            </a:pPr>
            <a:r>
              <a:rPr sz="3450" b="1">
                <a:solidFill>
                  <a:srgbClr val="111111"/>
                </a:solidFill>
              </a:rPr>
              <a:t>1회차 피드백을 네 가지 원칙으로 바꿨습니다</a:t>
            </a:r>
          </a:p>
        </p:txBody>
      </p:sp>
      <p:sp>
        <p:nvSpPr>
          <p:cNvPr id="3" name="">
            <a:extLst xmlns:a="http://schemas.openxmlformats.org/drawingml/2006/main">
              <a:ext uri="{FF2B5EF4-FFF2-40B4-BE49-F238E27FC236}">
                <a16:creationId xmlns:a16="http://schemas.microsoft.com/office/drawing/2014/main" id="{396814A7-D0E0-4334-8CAD-64456EF02CC9}"/>
              </a:ext>
            </a:extLst>
          </p:cNvPr>
          <p:cNvSpPr>
            <a:spLocks xmlns:a="http://schemas.openxmlformats.org/drawingml/2006/main" noGrp="1"/>
          </p:cNvSpPr>
          <p:nvPr/>
        </p:nvSpPr>
        <p:spPr>
          <a:xfrm xmlns:a="http://schemas.openxmlformats.org/drawingml/2006/main">
            <a:off x="609600" y="1409700"/>
            <a:ext cx="10972800" cy="190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4" name="">
            <a:extLst xmlns:a="http://schemas.openxmlformats.org/drawingml/2006/main">
              <a:ext uri="{FF2B5EF4-FFF2-40B4-BE49-F238E27FC236}">
                <a16:creationId xmlns:a16="http://schemas.microsoft.com/office/drawing/2014/main" id="{971F2BBD-616C-4D1D-BB24-9EFE77BE2E86}"/>
              </a:ext>
            </a:extLst>
          </p:cNvPr>
          <p:cNvSpPr>
            <a:spLocks xmlns:a="http://schemas.openxmlformats.org/drawingml/2006/main" noGrp="1"/>
          </p:cNvSpPr>
          <p:nvPr/>
        </p:nvSpPr>
        <p:spPr>
          <a:xfrm xmlns:a="http://schemas.openxmlformats.org/drawingml/2006/main">
            <a:off x="11201400" y="636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06A"/>
                </a:solidFill>
              </a:defRPr>
            </a:pPr>
            <a:r>
              <a:rPr sz="1050" b="0">
                <a:solidFill>
                  <a:srgbClr val="59606A"/>
                </a:solidFill>
              </a:rPr>
              <a:t>02</a:t>
            </a:r>
          </a:p>
        </p:txBody>
      </p:sp>
      <p:sp>
        <p:nvSpPr>
          <p:cNvPr id="5" name="">
            <a:extLst xmlns:a="http://schemas.openxmlformats.org/drawingml/2006/main">
              <a:ext uri="{FF2B5EF4-FFF2-40B4-BE49-F238E27FC236}">
                <a16:creationId xmlns:a16="http://schemas.microsoft.com/office/drawing/2014/main" id="{AC24F9AD-AF49-4D1A-AC98-E198F37DD708}"/>
              </a:ext>
            </a:extLst>
          </p:cNvPr>
          <p:cNvSpPr>
            <a:spLocks xmlns:a="http://schemas.openxmlformats.org/drawingml/2006/main" noGrp="1"/>
          </p:cNvSpPr>
          <p:nvPr/>
        </p:nvSpPr>
        <p:spPr>
          <a:xfrm xmlns:a="http://schemas.openxmlformats.org/drawingml/2006/main">
            <a:off x="609600" y="1809750"/>
            <a:ext cx="495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01</a:t>
            </a:r>
          </a:p>
        </p:txBody>
      </p:sp>
      <p:sp>
        <p:nvSpPr>
          <p:cNvPr id="6" name="">
            <a:extLst xmlns:a="http://schemas.openxmlformats.org/drawingml/2006/main">
              <a:ext uri="{FF2B5EF4-FFF2-40B4-BE49-F238E27FC236}">
                <a16:creationId xmlns:a16="http://schemas.microsoft.com/office/drawing/2014/main" id="{FCDF0969-2BA1-406F-BF18-513D75D5A102}"/>
              </a:ext>
            </a:extLst>
          </p:cNvPr>
          <p:cNvSpPr>
            <a:spLocks xmlns:a="http://schemas.openxmlformats.org/drawingml/2006/main" noGrp="1"/>
          </p:cNvSpPr>
          <p:nvPr/>
        </p:nvSpPr>
        <p:spPr>
          <a:xfrm xmlns:a="http://schemas.openxmlformats.org/drawingml/2006/main">
            <a:off x="1219200" y="1809750"/>
            <a:ext cx="44862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111"/>
                </a:solidFill>
              </a:defRPr>
            </a:pPr>
            <a:r>
              <a:rPr sz="2025" b="1">
                <a:solidFill>
                  <a:srgbClr val="111111"/>
                </a:solidFill>
              </a:rPr>
              <a:t>질환은 당뇨병 하나</a:t>
            </a:r>
          </a:p>
        </p:txBody>
      </p:sp>
      <p:sp>
        <p:nvSpPr>
          <p:cNvPr id="7" name="">
            <a:extLst xmlns:a="http://schemas.openxmlformats.org/drawingml/2006/main">
              <a:ext uri="{FF2B5EF4-FFF2-40B4-BE49-F238E27FC236}">
                <a16:creationId xmlns:a16="http://schemas.microsoft.com/office/drawing/2014/main" id="{0DBEF186-B36B-4234-9E3B-0024E62EFF06}"/>
              </a:ext>
            </a:extLst>
          </p:cNvPr>
          <p:cNvSpPr>
            <a:spLocks xmlns:a="http://schemas.openxmlformats.org/drawingml/2006/main" noGrp="1"/>
          </p:cNvSpPr>
          <p:nvPr/>
        </p:nvSpPr>
        <p:spPr>
          <a:xfrm xmlns:a="http://schemas.openxmlformats.org/drawingml/2006/main">
            <a:off x="1219200" y="2266950"/>
            <a:ext cx="448627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06A"/>
                </a:solidFill>
              </a:defRPr>
            </a:pPr>
            <a:r>
              <a:rPr sz="1575" b="0">
                <a:solidFill>
                  <a:srgbClr val="59606A"/>
                </a:solidFill>
              </a:rPr>
              <a:t>고혈압 확장보다 예측–설명–챌린지의 연결 완성도를 우선합니다.</a:t>
            </a:r>
          </a:p>
        </p:txBody>
      </p:sp>
      <p:sp>
        <p:nvSpPr>
          <p:cNvPr id="8" name="">
            <a:extLst xmlns:a="http://schemas.openxmlformats.org/drawingml/2006/main">
              <a:ext uri="{FF2B5EF4-FFF2-40B4-BE49-F238E27FC236}">
                <a16:creationId xmlns:a16="http://schemas.microsoft.com/office/drawing/2014/main" id="{2AB75983-C15F-42CF-9A92-E3085C3C433F}"/>
              </a:ext>
            </a:extLst>
          </p:cNvPr>
          <p:cNvSpPr>
            <a:spLocks xmlns:a="http://schemas.openxmlformats.org/drawingml/2006/main" noGrp="1"/>
          </p:cNvSpPr>
          <p:nvPr/>
        </p:nvSpPr>
        <p:spPr>
          <a:xfrm xmlns:a="http://schemas.openxmlformats.org/drawingml/2006/main">
            <a:off x="609600" y="3371850"/>
            <a:ext cx="5095875"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9" name="">
            <a:extLst xmlns:a="http://schemas.openxmlformats.org/drawingml/2006/main">
              <a:ext uri="{FF2B5EF4-FFF2-40B4-BE49-F238E27FC236}">
                <a16:creationId xmlns:a16="http://schemas.microsoft.com/office/drawing/2014/main" id="{15B64EDC-1C0D-4274-B632-7BAFED62BD84}"/>
              </a:ext>
            </a:extLst>
          </p:cNvPr>
          <p:cNvSpPr>
            <a:spLocks xmlns:a="http://schemas.openxmlformats.org/drawingml/2006/main" noGrp="1"/>
          </p:cNvSpPr>
          <p:nvPr/>
        </p:nvSpPr>
        <p:spPr>
          <a:xfrm xmlns:a="http://schemas.openxmlformats.org/drawingml/2006/main">
            <a:off x="6191250" y="1809750"/>
            <a:ext cx="495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02</a:t>
            </a:r>
          </a:p>
        </p:txBody>
      </p:sp>
      <p:sp>
        <p:nvSpPr>
          <p:cNvPr id="10" name="">
            <a:extLst xmlns:a="http://schemas.openxmlformats.org/drawingml/2006/main">
              <a:ext uri="{FF2B5EF4-FFF2-40B4-BE49-F238E27FC236}">
                <a16:creationId xmlns:a16="http://schemas.microsoft.com/office/drawing/2014/main" id="{524F1365-3208-48D0-87E3-58D83A184C67}"/>
              </a:ext>
            </a:extLst>
          </p:cNvPr>
          <p:cNvSpPr>
            <a:spLocks xmlns:a="http://schemas.openxmlformats.org/drawingml/2006/main" noGrp="1"/>
          </p:cNvSpPr>
          <p:nvPr/>
        </p:nvSpPr>
        <p:spPr>
          <a:xfrm xmlns:a="http://schemas.openxmlformats.org/drawingml/2006/main">
            <a:off x="6800850" y="180975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111"/>
                </a:solidFill>
              </a:defRPr>
            </a:pPr>
            <a:r>
              <a:rPr sz="2025" b="1">
                <a:solidFill>
                  <a:srgbClr val="111111"/>
                </a:solidFill>
              </a:rPr>
              <a:t>현재 상태가 아닌 미래 발병</a:t>
            </a:r>
          </a:p>
        </p:txBody>
      </p:sp>
      <p:sp>
        <p:nvSpPr>
          <p:cNvPr id="11" name="">
            <a:extLst xmlns:a="http://schemas.openxmlformats.org/drawingml/2006/main">
              <a:ext uri="{FF2B5EF4-FFF2-40B4-BE49-F238E27FC236}">
                <a16:creationId xmlns:a16="http://schemas.microsoft.com/office/drawing/2014/main" id="{9401E5BD-D6BB-4F1A-AE3C-CDBD0B6CD0AE}"/>
              </a:ext>
            </a:extLst>
          </p:cNvPr>
          <p:cNvSpPr>
            <a:spLocks xmlns:a="http://schemas.openxmlformats.org/drawingml/2006/main" noGrp="1"/>
          </p:cNvSpPr>
          <p:nvPr/>
        </p:nvSpPr>
        <p:spPr>
          <a:xfrm xmlns:a="http://schemas.openxmlformats.org/drawingml/2006/main">
            <a:off x="6800850" y="2266950"/>
            <a:ext cx="47815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06A"/>
                </a:solidFill>
              </a:defRPr>
            </a:pPr>
            <a:r>
              <a:rPr sz="1575" b="0">
                <a:solidFill>
                  <a:srgbClr val="59606A"/>
                </a:solidFill>
              </a:rPr>
              <a:t>KLoSA의 t0 미진단자에서 t1 신규 진단 여부를 이진분류합니다.</a:t>
            </a:r>
          </a:p>
        </p:txBody>
      </p:sp>
      <p:sp>
        <p:nvSpPr>
          <p:cNvPr id="12" name="">
            <a:extLst xmlns:a="http://schemas.openxmlformats.org/drawingml/2006/main">
              <a:ext uri="{FF2B5EF4-FFF2-40B4-BE49-F238E27FC236}">
                <a16:creationId xmlns:a16="http://schemas.microsoft.com/office/drawing/2014/main" id="{B07DBC36-B95C-4DA0-B505-283A651276D4}"/>
              </a:ext>
            </a:extLst>
          </p:cNvPr>
          <p:cNvSpPr>
            <a:spLocks xmlns:a="http://schemas.openxmlformats.org/drawingml/2006/main" noGrp="1"/>
          </p:cNvSpPr>
          <p:nvPr/>
        </p:nvSpPr>
        <p:spPr>
          <a:xfrm xmlns:a="http://schemas.openxmlformats.org/drawingml/2006/main">
            <a:off x="6191250" y="3371850"/>
            <a:ext cx="5391150" cy="5715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13" name="">
            <a:extLst xmlns:a="http://schemas.openxmlformats.org/drawingml/2006/main">
              <a:ext uri="{FF2B5EF4-FFF2-40B4-BE49-F238E27FC236}">
                <a16:creationId xmlns:a16="http://schemas.microsoft.com/office/drawing/2014/main" id="{1F135087-A806-425C-8845-AFE6413EA1DC}"/>
              </a:ext>
            </a:extLst>
          </p:cNvPr>
          <p:cNvSpPr>
            <a:spLocks xmlns:a="http://schemas.openxmlformats.org/drawingml/2006/main" noGrp="1"/>
          </p:cNvSpPr>
          <p:nvPr/>
        </p:nvSpPr>
        <p:spPr>
          <a:xfrm xmlns:a="http://schemas.openxmlformats.org/drawingml/2006/main">
            <a:off x="609600" y="3857625"/>
            <a:ext cx="495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03</a:t>
            </a:r>
          </a:p>
        </p:txBody>
      </p:sp>
      <p:sp>
        <p:nvSpPr>
          <p:cNvPr id="14" name="">
            <a:extLst xmlns:a="http://schemas.openxmlformats.org/drawingml/2006/main">
              <a:ext uri="{FF2B5EF4-FFF2-40B4-BE49-F238E27FC236}">
                <a16:creationId xmlns:a16="http://schemas.microsoft.com/office/drawing/2014/main" id="{7025D68C-EA66-40CC-9961-005A3649C902}"/>
              </a:ext>
            </a:extLst>
          </p:cNvPr>
          <p:cNvSpPr>
            <a:spLocks xmlns:a="http://schemas.openxmlformats.org/drawingml/2006/main" noGrp="1"/>
          </p:cNvSpPr>
          <p:nvPr/>
        </p:nvSpPr>
        <p:spPr>
          <a:xfrm xmlns:a="http://schemas.openxmlformats.org/drawingml/2006/main">
            <a:off x="1219200" y="3857625"/>
            <a:ext cx="44862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111"/>
                </a:solidFill>
              </a:defRPr>
            </a:pPr>
            <a:r>
              <a:rPr sz="2025" b="1">
                <a:solidFill>
                  <a:srgbClr val="111111"/>
                </a:solidFill>
              </a:rPr>
              <a:t>이용·타깃·모델 연령 분리</a:t>
            </a:r>
          </a:p>
        </p:txBody>
      </p:sp>
      <p:sp>
        <p:nvSpPr>
          <p:cNvPr id="15" name="">
            <a:extLst xmlns:a="http://schemas.openxmlformats.org/drawingml/2006/main">
              <a:ext uri="{FF2B5EF4-FFF2-40B4-BE49-F238E27FC236}">
                <a16:creationId xmlns:a16="http://schemas.microsoft.com/office/drawing/2014/main" id="{A0B04C84-018D-406E-8048-05A37EC8EF36}"/>
              </a:ext>
            </a:extLst>
          </p:cNvPr>
          <p:cNvSpPr>
            <a:spLocks xmlns:a="http://schemas.openxmlformats.org/drawingml/2006/main" noGrp="1"/>
          </p:cNvSpPr>
          <p:nvPr/>
        </p:nvSpPr>
        <p:spPr>
          <a:xfrm xmlns:a="http://schemas.openxmlformats.org/drawingml/2006/main">
            <a:off x="1219200" y="4314825"/>
            <a:ext cx="448627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06A"/>
                </a:solidFill>
              </a:defRPr>
            </a:pPr>
            <a:r>
              <a:rPr sz="1575" b="0">
                <a:solidFill>
                  <a:srgbClr val="59606A"/>
                </a:solidFill>
              </a:rPr>
              <a:t>이용은 19세 이상, 핵심 타깃은 40대 이상, 예측은 모델 검증 연령으로 통제합니다.</a:t>
            </a:r>
          </a:p>
        </p:txBody>
      </p:sp>
      <p:sp>
        <p:nvSpPr>
          <p:cNvPr id="16" name="">
            <a:extLst xmlns:a="http://schemas.openxmlformats.org/drawingml/2006/main">
              <a:ext uri="{FF2B5EF4-FFF2-40B4-BE49-F238E27FC236}">
                <a16:creationId xmlns:a16="http://schemas.microsoft.com/office/drawing/2014/main" id="{9302908F-D1E0-496C-9273-3B04C4D5F443}"/>
              </a:ext>
            </a:extLst>
          </p:cNvPr>
          <p:cNvSpPr>
            <a:spLocks xmlns:a="http://schemas.openxmlformats.org/drawingml/2006/main" noGrp="1"/>
          </p:cNvSpPr>
          <p:nvPr/>
        </p:nvSpPr>
        <p:spPr>
          <a:xfrm xmlns:a="http://schemas.openxmlformats.org/drawingml/2006/main">
            <a:off x="609600" y="5419725"/>
            <a:ext cx="5095875" cy="57150"/>
          </a:xfrm>
          <a:prstGeom xmlns:a="http://schemas.openxmlformats.org/drawingml/2006/main" prst="rect">
            <a:avLst/>
          </a:prstGeom>
          <a:solidFill xmlns:a="http://schemas.openxmlformats.org/drawingml/2006/main">
            <a:srgbClr val="2E8B57"/>
          </a:solidFill>
          <a:ln xmlns:a="http://schemas.openxmlformats.org/drawingml/2006/main" w="0">
            <a:solidFill>
              <a:srgbClr val="2E8B57"/>
            </a:solidFill>
            <a:prstDash val="solid"/>
          </a:ln>
        </p:spPr>
      </p:sp>
      <p:sp>
        <p:nvSpPr>
          <p:cNvPr id="17" name="">
            <a:extLst xmlns:a="http://schemas.openxmlformats.org/drawingml/2006/main">
              <a:ext uri="{FF2B5EF4-FFF2-40B4-BE49-F238E27FC236}">
                <a16:creationId xmlns:a16="http://schemas.microsoft.com/office/drawing/2014/main" id="{3DC6A690-E3DC-431C-9F35-E4CC5E3E0B4A}"/>
              </a:ext>
            </a:extLst>
          </p:cNvPr>
          <p:cNvSpPr>
            <a:spLocks xmlns:a="http://schemas.openxmlformats.org/drawingml/2006/main" noGrp="1"/>
          </p:cNvSpPr>
          <p:nvPr/>
        </p:nvSpPr>
        <p:spPr>
          <a:xfrm xmlns:a="http://schemas.openxmlformats.org/drawingml/2006/main">
            <a:off x="6191250" y="3857625"/>
            <a:ext cx="495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04</a:t>
            </a:r>
          </a:p>
        </p:txBody>
      </p:sp>
      <p:sp>
        <p:nvSpPr>
          <p:cNvPr id="18" name="">
            <a:extLst xmlns:a="http://schemas.openxmlformats.org/drawingml/2006/main">
              <a:ext uri="{FF2B5EF4-FFF2-40B4-BE49-F238E27FC236}">
                <a16:creationId xmlns:a16="http://schemas.microsoft.com/office/drawing/2014/main" id="{122DC14D-8596-4286-8EA8-C4F36B273EEA}"/>
              </a:ext>
            </a:extLst>
          </p:cNvPr>
          <p:cNvSpPr>
            <a:spLocks xmlns:a="http://schemas.openxmlformats.org/drawingml/2006/main" noGrp="1"/>
          </p:cNvSpPr>
          <p:nvPr/>
        </p:nvSpPr>
        <p:spPr>
          <a:xfrm xmlns:a="http://schemas.openxmlformats.org/drawingml/2006/main">
            <a:off x="6800850" y="3857625"/>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111"/>
                </a:solidFill>
              </a:defRPr>
            </a:pPr>
            <a:r>
              <a:rPr sz="2025" b="1">
                <a:solidFill>
                  <a:srgbClr val="111111"/>
                </a:solidFill>
              </a:rPr>
              <a:t>범주 중심·안전 우선</a:t>
            </a:r>
          </a:p>
        </p:txBody>
      </p:sp>
      <p:sp>
        <p:nvSpPr>
          <p:cNvPr id="19" name="">
            <a:extLst xmlns:a="http://schemas.openxmlformats.org/drawingml/2006/main">
              <a:ext uri="{FF2B5EF4-FFF2-40B4-BE49-F238E27FC236}">
                <a16:creationId xmlns:a16="http://schemas.microsoft.com/office/drawing/2014/main" id="{A6C242B7-7DC1-45E4-873B-3EA4BA47AA59}"/>
              </a:ext>
            </a:extLst>
          </p:cNvPr>
          <p:cNvSpPr>
            <a:spLocks xmlns:a="http://schemas.openxmlformats.org/drawingml/2006/main" noGrp="1"/>
          </p:cNvSpPr>
          <p:nvPr/>
        </p:nvSpPr>
        <p:spPr>
          <a:xfrm xmlns:a="http://schemas.openxmlformats.org/drawingml/2006/main">
            <a:off x="6800850" y="4314825"/>
            <a:ext cx="47815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06A"/>
                </a:solidFill>
              </a:defRPr>
            </a:pPr>
            <a:r>
              <a:rPr sz="1575" b="0">
                <a:solidFill>
                  <a:srgbClr val="59606A"/>
                </a:solidFill>
              </a:rPr>
              <a:t>화면에는 낮음·주의·높음을 제시하고, 기진단자는 예측·개인화에서 제외합니다.</a:t>
            </a:r>
          </a:p>
        </p:txBody>
      </p:sp>
      <p:sp>
        <p:nvSpPr>
          <p:cNvPr id="20" name="">
            <a:extLst xmlns:a="http://schemas.openxmlformats.org/drawingml/2006/main">
              <a:ext uri="{FF2B5EF4-FFF2-40B4-BE49-F238E27FC236}">
                <a16:creationId xmlns:a16="http://schemas.microsoft.com/office/drawing/2014/main" id="{08DF493B-7723-4772-8AFB-084A5F6B0DC2}"/>
              </a:ext>
            </a:extLst>
          </p:cNvPr>
          <p:cNvSpPr>
            <a:spLocks xmlns:a="http://schemas.openxmlformats.org/drawingml/2006/main" noGrp="1"/>
          </p:cNvSpPr>
          <p:nvPr/>
        </p:nvSpPr>
        <p:spPr>
          <a:xfrm xmlns:a="http://schemas.openxmlformats.org/drawingml/2006/main">
            <a:off x="6191250" y="5419725"/>
            <a:ext cx="5391150" cy="5715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Tree>
    <p:extLst>
      <p:ext uri="{BB962C8B-B14F-4D97-AF65-F5344CB8AC3E}">
        <p14:creationId xmlns:p14="http://schemas.microsoft.com/office/powerpoint/2010/main" val="10777638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48EE547-1C33-4564-B6F0-97386C17D488}"/>
              </a:ext>
            </a:extLst>
          </p:cNvPr>
          <p:cNvSpPr>
            <a:spLocks xmlns:a="http://schemas.openxmlformats.org/drawingml/2006/main" noGrp="1"/>
          </p:cNvSpPr>
          <p:nvPr/>
        </p:nvSpPr>
        <p:spPr>
          <a:xfrm xmlns:a="http://schemas.openxmlformats.org/drawingml/2006/main">
            <a:off x="609600" y="3429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02 · SERVICE SCOPE</a:t>
            </a:r>
          </a:p>
        </p:txBody>
      </p:sp>
      <p:sp>
        <p:nvSpPr>
          <p:cNvPr id="2" name="">
            <a:extLst xmlns:a="http://schemas.openxmlformats.org/drawingml/2006/main">
              <a:ext uri="{FF2B5EF4-FFF2-40B4-BE49-F238E27FC236}">
                <a16:creationId xmlns:a16="http://schemas.microsoft.com/office/drawing/2014/main" id="{D779CC6E-74AB-4A82-A45E-8021985DE983}"/>
              </a:ext>
            </a:extLst>
          </p:cNvPr>
          <p:cNvSpPr>
            <a:spLocks xmlns:a="http://schemas.openxmlformats.org/drawingml/2006/main" noGrp="1"/>
          </p:cNvSpPr>
          <p:nvPr/>
        </p:nvSpPr>
        <p:spPr>
          <a:xfrm xmlns:a="http://schemas.openxmlformats.org/drawingml/2006/main">
            <a:off x="609600" y="7239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11111"/>
                </a:solidFill>
              </a:defRPr>
            </a:pPr>
            <a:r>
              <a:rPr sz="3450" b="1">
                <a:solidFill>
                  <a:srgbClr val="111111"/>
                </a:solidFill>
              </a:rPr>
              <a:t>사용자는 세 개의 문을 각각 통과합니다</a:t>
            </a:r>
          </a:p>
        </p:txBody>
      </p:sp>
      <p:sp>
        <p:nvSpPr>
          <p:cNvPr id="3" name="">
            <a:extLst xmlns:a="http://schemas.openxmlformats.org/drawingml/2006/main">
              <a:ext uri="{FF2B5EF4-FFF2-40B4-BE49-F238E27FC236}">
                <a16:creationId xmlns:a16="http://schemas.microsoft.com/office/drawing/2014/main" id="{B2F56312-53E2-49F0-8111-30076AE3224B}"/>
              </a:ext>
            </a:extLst>
          </p:cNvPr>
          <p:cNvSpPr>
            <a:spLocks xmlns:a="http://schemas.openxmlformats.org/drawingml/2006/main" noGrp="1"/>
          </p:cNvSpPr>
          <p:nvPr/>
        </p:nvSpPr>
        <p:spPr>
          <a:xfrm xmlns:a="http://schemas.openxmlformats.org/drawingml/2006/main">
            <a:off x="609600" y="1409700"/>
            <a:ext cx="10972800" cy="190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4" name="">
            <a:extLst xmlns:a="http://schemas.openxmlformats.org/drawingml/2006/main">
              <a:ext uri="{FF2B5EF4-FFF2-40B4-BE49-F238E27FC236}">
                <a16:creationId xmlns:a16="http://schemas.microsoft.com/office/drawing/2014/main" id="{E228C4C7-9D8C-4CCA-9464-10EBCAE3E290}"/>
              </a:ext>
            </a:extLst>
          </p:cNvPr>
          <p:cNvSpPr>
            <a:spLocks xmlns:a="http://schemas.openxmlformats.org/drawingml/2006/main" noGrp="1"/>
          </p:cNvSpPr>
          <p:nvPr/>
        </p:nvSpPr>
        <p:spPr>
          <a:xfrm xmlns:a="http://schemas.openxmlformats.org/drawingml/2006/main">
            <a:off x="11201400" y="636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06A"/>
                </a:solidFill>
              </a:defRPr>
            </a:pPr>
            <a:r>
              <a:rPr sz="1050" b="0">
                <a:solidFill>
                  <a:srgbClr val="59606A"/>
                </a:solidFill>
              </a:rPr>
              <a:t>03</a:t>
            </a:r>
          </a:p>
        </p:txBody>
      </p:sp>
      <p:sp>
        <p:nvSpPr>
          <p:cNvPr id="5" name="">
            <a:extLst xmlns:a="http://schemas.openxmlformats.org/drawingml/2006/main">
              <a:ext uri="{FF2B5EF4-FFF2-40B4-BE49-F238E27FC236}">
                <a16:creationId xmlns:a16="http://schemas.microsoft.com/office/drawing/2014/main" id="{E0F589CA-3496-4145-84DF-F9FDF55798DC}"/>
              </a:ext>
            </a:extLst>
          </p:cNvPr>
          <p:cNvSpPr>
            <a:spLocks xmlns:a="http://schemas.openxmlformats.org/drawingml/2006/main" noGrp="1"/>
          </p:cNvSpPr>
          <p:nvPr/>
        </p:nvSpPr>
        <p:spPr>
          <a:xfrm xmlns:a="http://schemas.openxmlformats.org/drawingml/2006/main">
            <a:off x="2095500" y="3171825"/>
            <a:ext cx="7981950" cy="2857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
            <a:extLst xmlns:a="http://schemas.openxmlformats.org/drawingml/2006/main">
              <a:ext uri="{FF2B5EF4-FFF2-40B4-BE49-F238E27FC236}">
                <a16:creationId xmlns:a16="http://schemas.microsoft.com/office/drawing/2014/main" id="{706DF9E9-B6D2-47C2-A3C5-CECC72885284}"/>
              </a:ext>
            </a:extLst>
          </p:cNvPr>
          <p:cNvSpPr>
            <a:spLocks xmlns:a="http://schemas.openxmlformats.org/drawingml/2006/main" noGrp="1"/>
          </p:cNvSpPr>
          <p:nvPr/>
        </p:nvSpPr>
        <p:spPr>
          <a:xfrm xmlns:a="http://schemas.openxmlformats.org/drawingml/2006/main">
            <a:off x="742950" y="2095500"/>
            <a:ext cx="2857500" cy="2190750"/>
          </a:xfrm>
          <a:prstGeom xmlns:a="http://schemas.openxmlformats.org/drawingml/2006/main" prst="rect">
            <a:avLst/>
          </a:prstGeom>
          <a:solidFill xmlns:a="http://schemas.openxmlformats.org/drawingml/2006/main">
            <a:srgbClr val="E8F5FC"/>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38A26C88-9090-416E-81A7-0E4B6E8689F8}"/>
              </a:ext>
            </a:extLst>
          </p:cNvPr>
          <p:cNvSpPr>
            <a:spLocks xmlns:a="http://schemas.openxmlformats.org/drawingml/2006/main" noGrp="1"/>
          </p:cNvSpPr>
          <p:nvPr/>
        </p:nvSpPr>
        <p:spPr>
          <a:xfrm xmlns:a="http://schemas.openxmlformats.org/drawingml/2006/main">
            <a:off x="971550" y="22860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01</a:t>
            </a:r>
          </a:p>
        </p:txBody>
      </p:sp>
      <p:sp>
        <p:nvSpPr>
          <p:cNvPr id="8" name="">
            <a:extLst xmlns:a="http://schemas.openxmlformats.org/drawingml/2006/main">
              <a:ext uri="{FF2B5EF4-FFF2-40B4-BE49-F238E27FC236}">
                <a16:creationId xmlns:a16="http://schemas.microsoft.com/office/drawing/2014/main" id="{DAE1B720-E52D-4B8D-B731-915D5267BFA9}"/>
              </a:ext>
            </a:extLst>
          </p:cNvPr>
          <p:cNvSpPr>
            <a:spLocks xmlns:a="http://schemas.openxmlformats.org/drawingml/2006/main" noGrp="1"/>
          </p:cNvSpPr>
          <p:nvPr/>
        </p:nvSpPr>
        <p:spPr>
          <a:xfrm xmlns:a="http://schemas.openxmlformats.org/drawingml/2006/main">
            <a:off x="971550" y="276225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11111"/>
                </a:solidFill>
              </a:defRPr>
            </a:pPr>
            <a:r>
              <a:rPr sz="2175" b="1">
                <a:solidFill>
                  <a:srgbClr val="111111"/>
                </a:solidFill>
              </a:rPr>
              <a:t>서비스 이용</a:t>
            </a:r>
          </a:p>
        </p:txBody>
      </p:sp>
      <p:sp>
        <p:nvSpPr>
          <p:cNvPr id="9" name="">
            <a:extLst xmlns:a="http://schemas.openxmlformats.org/drawingml/2006/main">
              <a:ext uri="{FF2B5EF4-FFF2-40B4-BE49-F238E27FC236}">
                <a16:creationId xmlns:a16="http://schemas.microsoft.com/office/drawing/2014/main" id="{89DAB6EC-BE07-4165-ACB5-8BC4D2696125}"/>
              </a:ext>
            </a:extLst>
          </p:cNvPr>
          <p:cNvSpPr>
            <a:spLocks xmlns:a="http://schemas.openxmlformats.org/drawingml/2006/main" noGrp="1"/>
          </p:cNvSpPr>
          <p:nvPr/>
        </p:nvSpPr>
        <p:spPr>
          <a:xfrm xmlns:a="http://schemas.openxmlformats.org/drawingml/2006/main">
            <a:off x="971550" y="3314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06A"/>
                </a:solidFill>
              </a:defRPr>
            </a:pPr>
            <a:r>
              <a:rPr sz="1650" b="0">
                <a:solidFill>
                  <a:srgbClr val="59606A"/>
                </a:solidFill>
              </a:rPr>
              <a:t>만 19세 이상</a:t>
            </a:r>
          </a:p>
          <a:p xmlns:a="http://schemas.openxmlformats.org/drawingml/2006/main">
            <a:pPr algn="l">
              <a:defRPr sz="1650" b="0">
                <a:solidFill>
                  <a:srgbClr val="59606A"/>
                </a:solidFill>
              </a:defRPr>
            </a:pPr>
            <a:r>
              <a:rPr sz="1650" b="0">
                <a:solidFill>
                  <a:srgbClr val="59606A"/>
                </a:solidFill>
              </a:rPr>
              <a:t>동의 완료</a:t>
            </a:r>
          </a:p>
        </p:txBody>
      </p:sp>
      <p:sp>
        <p:nvSpPr>
          <p:cNvPr id="10" name="">
            <a:extLst xmlns:a="http://schemas.openxmlformats.org/drawingml/2006/main">
              <a:ext uri="{FF2B5EF4-FFF2-40B4-BE49-F238E27FC236}">
                <a16:creationId xmlns:a16="http://schemas.microsoft.com/office/drawing/2014/main" id="{D3DFB90C-1F8A-491A-8A97-F0D455033CC7}"/>
              </a:ext>
            </a:extLst>
          </p:cNvPr>
          <p:cNvSpPr>
            <a:spLocks xmlns:a="http://schemas.openxmlformats.org/drawingml/2006/main" noGrp="1"/>
          </p:cNvSpPr>
          <p:nvPr/>
        </p:nvSpPr>
        <p:spPr>
          <a:xfrm xmlns:a="http://schemas.openxmlformats.org/drawingml/2006/main">
            <a:off x="4267200" y="2095500"/>
            <a:ext cx="2857500" cy="2190750"/>
          </a:xfrm>
          <a:prstGeom xmlns:a="http://schemas.openxmlformats.org/drawingml/2006/main" prst="rect">
            <a:avLst/>
          </a:prstGeom>
          <a:solidFill xmlns:a="http://schemas.openxmlformats.org/drawingml/2006/main">
            <a:srgbClr val="EAF6EF"/>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D4043CC1-BD6F-444B-9244-D61AFF5D11A1}"/>
              </a:ext>
            </a:extLst>
          </p:cNvPr>
          <p:cNvSpPr>
            <a:spLocks xmlns:a="http://schemas.openxmlformats.org/drawingml/2006/main" noGrp="1"/>
          </p:cNvSpPr>
          <p:nvPr/>
        </p:nvSpPr>
        <p:spPr>
          <a:xfrm xmlns:a="http://schemas.openxmlformats.org/drawingml/2006/main">
            <a:off x="4495800" y="22860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02</a:t>
            </a:r>
          </a:p>
        </p:txBody>
      </p:sp>
      <p:sp>
        <p:nvSpPr>
          <p:cNvPr id="12" name="">
            <a:extLst xmlns:a="http://schemas.openxmlformats.org/drawingml/2006/main">
              <a:ext uri="{FF2B5EF4-FFF2-40B4-BE49-F238E27FC236}">
                <a16:creationId xmlns:a16="http://schemas.microsoft.com/office/drawing/2014/main" id="{74595FCE-9A15-4FBF-8D94-2C811F67B040}"/>
              </a:ext>
            </a:extLst>
          </p:cNvPr>
          <p:cNvSpPr>
            <a:spLocks xmlns:a="http://schemas.openxmlformats.org/drawingml/2006/main" noGrp="1"/>
          </p:cNvSpPr>
          <p:nvPr/>
        </p:nvSpPr>
        <p:spPr>
          <a:xfrm xmlns:a="http://schemas.openxmlformats.org/drawingml/2006/main">
            <a:off x="4495800" y="2762250"/>
            <a:ext cx="2400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11111"/>
                </a:solidFill>
              </a:defRPr>
            </a:pPr>
            <a:r>
              <a:rPr sz="2175" b="1">
                <a:solidFill>
                  <a:srgbClr val="111111"/>
                </a:solidFill>
              </a:rPr>
              <a:t>핵심 타깃</a:t>
            </a:r>
          </a:p>
        </p:txBody>
      </p:sp>
      <p:sp>
        <p:nvSpPr>
          <p:cNvPr id="13" name="">
            <a:extLst xmlns:a="http://schemas.openxmlformats.org/drawingml/2006/main">
              <a:ext uri="{FF2B5EF4-FFF2-40B4-BE49-F238E27FC236}">
                <a16:creationId xmlns:a16="http://schemas.microsoft.com/office/drawing/2014/main" id="{BFDE01B6-9727-4372-AA0B-9D0951022CD5}"/>
              </a:ext>
            </a:extLst>
          </p:cNvPr>
          <p:cNvSpPr>
            <a:spLocks xmlns:a="http://schemas.openxmlformats.org/drawingml/2006/main" noGrp="1"/>
          </p:cNvSpPr>
          <p:nvPr/>
        </p:nvSpPr>
        <p:spPr>
          <a:xfrm xmlns:a="http://schemas.openxmlformats.org/drawingml/2006/main">
            <a:off x="4495800" y="3314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06A"/>
                </a:solidFill>
              </a:defRPr>
            </a:pPr>
            <a:r>
              <a:rPr sz="1650" b="0">
                <a:solidFill>
                  <a:srgbClr val="59606A"/>
                </a:solidFill>
              </a:rPr>
              <a:t>40대 이상</a:t>
            </a:r>
          </a:p>
          <a:p xmlns:a="http://schemas.openxmlformats.org/drawingml/2006/main">
            <a:pPr algn="l">
              <a:defRPr sz="1650" b="0">
                <a:solidFill>
                  <a:srgbClr val="59606A"/>
                </a:solidFill>
              </a:defRPr>
            </a:pPr>
            <a:r>
              <a:rPr sz="1650" b="0">
                <a:solidFill>
                  <a:srgbClr val="59606A"/>
                </a:solidFill>
              </a:rPr>
              <a:t>당뇨병 미진단</a:t>
            </a:r>
          </a:p>
        </p:txBody>
      </p:sp>
      <p:sp>
        <p:nvSpPr>
          <p:cNvPr id="14" name="">
            <a:extLst xmlns:a="http://schemas.openxmlformats.org/drawingml/2006/main">
              <a:ext uri="{FF2B5EF4-FFF2-40B4-BE49-F238E27FC236}">
                <a16:creationId xmlns:a16="http://schemas.microsoft.com/office/drawing/2014/main" id="{224784B7-D0C2-40D7-9BB2-D9955BBE97B3}"/>
              </a:ext>
            </a:extLst>
          </p:cNvPr>
          <p:cNvSpPr>
            <a:spLocks xmlns:a="http://schemas.openxmlformats.org/drawingml/2006/main" noGrp="1"/>
          </p:cNvSpPr>
          <p:nvPr/>
        </p:nvSpPr>
        <p:spPr>
          <a:xfrm xmlns:a="http://schemas.openxmlformats.org/drawingml/2006/main">
            <a:off x="7791450" y="2095500"/>
            <a:ext cx="3714750" cy="2190750"/>
          </a:xfrm>
          <a:prstGeom xmlns:a="http://schemas.openxmlformats.org/drawingml/2006/main" prst="rect">
            <a:avLst/>
          </a:prstGeom>
          <a:solidFill xmlns:a="http://schemas.openxmlformats.org/drawingml/2006/main">
            <a:srgbClr val="FFF2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B25C4121-B464-4E1C-8AAD-0F67A97E0980}"/>
              </a:ext>
            </a:extLst>
          </p:cNvPr>
          <p:cNvSpPr>
            <a:spLocks xmlns:a="http://schemas.openxmlformats.org/drawingml/2006/main" noGrp="1"/>
          </p:cNvSpPr>
          <p:nvPr/>
        </p:nvSpPr>
        <p:spPr>
          <a:xfrm xmlns:a="http://schemas.openxmlformats.org/drawingml/2006/main">
            <a:off x="8020050" y="2286000"/>
            <a:ext cx="57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03</a:t>
            </a:r>
          </a:p>
        </p:txBody>
      </p:sp>
      <p:sp>
        <p:nvSpPr>
          <p:cNvPr id="16" name="">
            <a:extLst xmlns:a="http://schemas.openxmlformats.org/drawingml/2006/main">
              <a:ext uri="{FF2B5EF4-FFF2-40B4-BE49-F238E27FC236}">
                <a16:creationId xmlns:a16="http://schemas.microsoft.com/office/drawing/2014/main" id="{0C1538F5-C4EA-430B-9947-733D03FE8E0F}"/>
              </a:ext>
            </a:extLst>
          </p:cNvPr>
          <p:cNvSpPr>
            <a:spLocks xmlns:a="http://schemas.openxmlformats.org/drawingml/2006/main" noGrp="1"/>
          </p:cNvSpPr>
          <p:nvPr/>
        </p:nvSpPr>
        <p:spPr>
          <a:xfrm xmlns:a="http://schemas.openxmlformats.org/drawingml/2006/main">
            <a:off x="8020050" y="2762250"/>
            <a:ext cx="3257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111111"/>
                </a:solidFill>
              </a:defRPr>
            </a:pPr>
            <a:r>
              <a:rPr sz="2175" b="1">
                <a:solidFill>
                  <a:srgbClr val="111111"/>
                </a:solidFill>
              </a:rPr>
              <a:t>모델 적용</a:t>
            </a:r>
          </a:p>
        </p:txBody>
      </p:sp>
      <p:sp>
        <p:nvSpPr>
          <p:cNvPr id="17" name="">
            <a:extLst xmlns:a="http://schemas.openxmlformats.org/drawingml/2006/main">
              <a:ext uri="{FF2B5EF4-FFF2-40B4-BE49-F238E27FC236}">
                <a16:creationId xmlns:a16="http://schemas.microsoft.com/office/drawing/2014/main" id="{19FB6916-AB0E-40B2-8ED6-6D0C2B0C8ECC}"/>
              </a:ext>
            </a:extLst>
          </p:cNvPr>
          <p:cNvSpPr>
            <a:spLocks xmlns:a="http://schemas.openxmlformats.org/drawingml/2006/main" noGrp="1"/>
          </p:cNvSpPr>
          <p:nvPr/>
        </p:nvSpPr>
        <p:spPr>
          <a:xfrm xmlns:a="http://schemas.openxmlformats.org/drawingml/2006/main">
            <a:off x="8020050" y="3314700"/>
            <a:ext cx="3257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06A"/>
                </a:solidFill>
              </a:defRPr>
            </a:pPr>
            <a:r>
              <a:rPr sz="1650" b="0">
                <a:solidFill>
                  <a:srgbClr val="59606A"/>
                </a:solidFill>
              </a:rPr>
              <a:t>모델 카드의 검증 연령·모집단</a:t>
            </a:r>
          </a:p>
          <a:p xmlns:a="http://schemas.openxmlformats.org/drawingml/2006/main">
            <a:pPr algn="l">
              <a:defRPr sz="1650" b="0">
                <a:solidFill>
                  <a:srgbClr val="59606A"/>
                </a:solidFill>
              </a:defRPr>
            </a:pPr>
            <a:r>
              <a:rPr sz="1650" b="0">
                <a:solidFill>
                  <a:srgbClr val="59606A"/>
                </a:solidFill>
              </a:rPr>
              <a:t>KLoSA 단독은 40–44세 예측 제외</a:t>
            </a:r>
          </a:p>
        </p:txBody>
      </p:sp>
      <p:sp>
        <p:nvSpPr>
          <p:cNvPr id="18" name="">
            <a:extLst xmlns:a="http://schemas.openxmlformats.org/drawingml/2006/main">
              <a:ext uri="{FF2B5EF4-FFF2-40B4-BE49-F238E27FC236}">
                <a16:creationId xmlns:a16="http://schemas.microsoft.com/office/drawing/2014/main" id="{C5C400E1-1E61-47EA-8B5F-57FE5F4DD031}"/>
              </a:ext>
            </a:extLst>
          </p:cNvPr>
          <p:cNvSpPr>
            <a:spLocks xmlns:a="http://schemas.openxmlformats.org/drawingml/2006/main" noGrp="1"/>
          </p:cNvSpPr>
          <p:nvPr/>
        </p:nvSpPr>
        <p:spPr>
          <a:xfrm xmlns:a="http://schemas.openxmlformats.org/drawingml/2006/main">
            <a:off x="762000" y="47625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C2413B"/>
                </a:solidFill>
              </a:defRPr>
            </a:pPr>
            <a:r>
              <a:rPr sz="1800" b="1">
                <a:solidFill>
                  <a:srgbClr val="C2413B"/>
                </a:solidFill>
              </a:rPr>
              <a:t>기진단·경고 증상·모델 범위 밖</a:t>
            </a:r>
          </a:p>
        </p:txBody>
      </p:sp>
      <p:sp>
        <p:nvSpPr>
          <p:cNvPr id="19" name="">
            <a:extLst xmlns:a="http://schemas.openxmlformats.org/drawingml/2006/main">
              <a:ext uri="{FF2B5EF4-FFF2-40B4-BE49-F238E27FC236}">
                <a16:creationId xmlns:a16="http://schemas.microsoft.com/office/drawing/2014/main" id="{FAA7D8D8-6E80-4E50-ADE7-3E3E15CD4702}"/>
              </a:ext>
            </a:extLst>
          </p:cNvPr>
          <p:cNvSpPr>
            <a:spLocks xmlns:a="http://schemas.openxmlformats.org/drawingml/2006/main" noGrp="1"/>
          </p:cNvSpPr>
          <p:nvPr/>
        </p:nvSpPr>
        <p:spPr>
          <a:xfrm xmlns:a="http://schemas.openxmlformats.org/drawingml/2006/main">
            <a:off x="762000" y="51816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9606A"/>
                </a:solidFill>
              </a:defRPr>
            </a:pPr>
            <a:r>
              <a:rPr sz="1650" b="0">
                <a:solidFill>
                  <a:srgbClr val="59606A"/>
                </a:solidFill>
              </a:rPr>
              <a:t>예측 작업을 만들지 않고 검사·의료기관 안내로 전환합니다.</a:t>
            </a:r>
          </a:p>
        </p:txBody>
      </p:sp>
    </p:spTree>
    <p:extLst>
      <p:ext uri="{BB962C8B-B14F-4D97-AF65-F5344CB8AC3E}">
        <p14:creationId xmlns:p14="http://schemas.microsoft.com/office/powerpoint/2010/main" val="18624833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D8F619-C7CE-4562-A6AB-C51D6B8F7231}"/>
              </a:ext>
            </a:extLst>
          </p:cNvPr>
          <p:cNvSpPr>
            <a:spLocks xmlns:a="http://schemas.openxmlformats.org/drawingml/2006/main" noGrp="1"/>
          </p:cNvSpPr>
          <p:nvPr/>
        </p:nvSpPr>
        <p:spPr>
          <a:xfrm xmlns:a="http://schemas.openxmlformats.org/drawingml/2006/main">
            <a:off x="609600" y="3429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03 · BASELINE EVIDENCE</a:t>
            </a:r>
          </a:p>
        </p:txBody>
      </p:sp>
      <p:sp>
        <p:nvSpPr>
          <p:cNvPr id="2" name="">
            <a:extLst xmlns:a="http://schemas.openxmlformats.org/drawingml/2006/main">
              <a:ext uri="{FF2B5EF4-FFF2-40B4-BE49-F238E27FC236}">
                <a16:creationId xmlns:a16="http://schemas.microsoft.com/office/drawing/2014/main" id="{994776F6-3AD4-49CD-8240-3CB63BA56274}"/>
              </a:ext>
            </a:extLst>
          </p:cNvPr>
          <p:cNvSpPr>
            <a:spLocks xmlns:a="http://schemas.openxmlformats.org/drawingml/2006/main" noGrp="1"/>
          </p:cNvSpPr>
          <p:nvPr/>
        </p:nvSpPr>
        <p:spPr>
          <a:xfrm xmlns:a="http://schemas.openxmlformats.org/drawingml/2006/main">
            <a:off x="609600" y="7239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11111"/>
                </a:solidFill>
              </a:defRPr>
            </a:pPr>
            <a:r>
              <a:rPr sz="3450" b="1">
                <a:solidFill>
                  <a:srgbClr val="111111"/>
                </a:solidFill>
              </a:rPr>
              <a:t>축소 베이스라인으로 가능성과 한계를 확인했습니다</a:t>
            </a:r>
          </a:p>
        </p:txBody>
      </p:sp>
      <p:sp>
        <p:nvSpPr>
          <p:cNvPr id="3" name="">
            <a:extLst xmlns:a="http://schemas.openxmlformats.org/drawingml/2006/main">
              <a:ext uri="{FF2B5EF4-FFF2-40B4-BE49-F238E27FC236}">
                <a16:creationId xmlns:a16="http://schemas.microsoft.com/office/drawing/2014/main" id="{0C22129E-12D2-445B-8D9F-C96E341B4DBB}"/>
              </a:ext>
            </a:extLst>
          </p:cNvPr>
          <p:cNvSpPr>
            <a:spLocks xmlns:a="http://schemas.openxmlformats.org/drawingml/2006/main" noGrp="1"/>
          </p:cNvSpPr>
          <p:nvPr/>
        </p:nvSpPr>
        <p:spPr>
          <a:xfrm xmlns:a="http://schemas.openxmlformats.org/drawingml/2006/main">
            <a:off x="609600" y="1409700"/>
            <a:ext cx="10972800" cy="190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4" name="">
            <a:extLst xmlns:a="http://schemas.openxmlformats.org/drawingml/2006/main">
              <a:ext uri="{FF2B5EF4-FFF2-40B4-BE49-F238E27FC236}">
                <a16:creationId xmlns:a16="http://schemas.microsoft.com/office/drawing/2014/main" id="{927BE735-911E-437A-A30B-B7331A6A17DE}"/>
              </a:ext>
            </a:extLst>
          </p:cNvPr>
          <p:cNvSpPr>
            <a:spLocks xmlns:a="http://schemas.openxmlformats.org/drawingml/2006/main" noGrp="1"/>
          </p:cNvSpPr>
          <p:nvPr/>
        </p:nvSpPr>
        <p:spPr>
          <a:xfrm xmlns:a="http://schemas.openxmlformats.org/drawingml/2006/main">
            <a:off x="11201400" y="636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06A"/>
                </a:solidFill>
              </a:defRPr>
            </a:pPr>
            <a:r>
              <a:rPr sz="1050" b="0">
                <a:solidFill>
                  <a:srgbClr val="59606A"/>
                </a:solidFill>
              </a:rPr>
              <a:t>04</a:t>
            </a:r>
          </a:p>
        </p:txBody>
      </p:sp>
      <p:graphicFrame>
        <p:nvGraphicFramePr>
          <p:cNvPr id="14" name="Chart"/>
          <p:cNvGraphicFramePr/>
          <p:nvPr/>
        </p:nvGraphicFramePr>
        <p:xfrm>
          <a:off xmlns:a="http://schemas.openxmlformats.org/drawingml/2006/main" x="609600" y="1952625"/>
          <a:ext xmlns:a="http://schemas.openxmlformats.org/drawingml/2006/main" cx="6858000" cy="3429000"/>
        </p:xfrm>
        <a:graphic xmlns:a="http://schemas.openxmlformats.org/drawingml/2006/main">
          <a:graphicData uri="http://schemas.openxmlformats.org/drawingml/2006/chart">
            <c:chart xmlns:r="http://schemas.openxmlformats.org/officeDocument/2006/relationships" xmlns:c="http://schemas.openxmlformats.org/drawingml/2006/chart" r:id="Rd4cf998046e144b9"/>
          </a:graphicData>
        </a:graphic>
      </p:graphicFrame>
      <p:sp>
        <p:nvSpPr>
          <p:cNvPr id="6" name="">
            <a:extLst xmlns:a="http://schemas.openxmlformats.org/drawingml/2006/main">
              <a:ext uri="{FF2B5EF4-FFF2-40B4-BE49-F238E27FC236}">
                <a16:creationId xmlns:a16="http://schemas.microsoft.com/office/drawing/2014/main" id="{29E59CDA-E072-44F6-A833-82C168D222EF}"/>
              </a:ext>
            </a:extLst>
          </p:cNvPr>
          <p:cNvSpPr>
            <a:spLocks xmlns:a="http://schemas.openxmlformats.org/drawingml/2006/main" noGrp="1"/>
          </p:cNvSpPr>
          <p:nvPr/>
        </p:nvSpPr>
        <p:spPr>
          <a:xfrm xmlns:a="http://schemas.openxmlformats.org/drawingml/2006/main">
            <a:off x="8001000" y="20383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해석</a:t>
            </a:r>
          </a:p>
        </p:txBody>
      </p:sp>
      <p:sp>
        <p:nvSpPr>
          <p:cNvPr id="7" name="">
            <a:extLst xmlns:a="http://schemas.openxmlformats.org/drawingml/2006/main">
              <a:ext uri="{FF2B5EF4-FFF2-40B4-BE49-F238E27FC236}">
                <a16:creationId xmlns:a16="http://schemas.microsoft.com/office/drawing/2014/main" id="{B393AA18-1FED-4017-B924-AE3C14AEB4C6}"/>
              </a:ext>
            </a:extLst>
          </p:cNvPr>
          <p:cNvSpPr>
            <a:spLocks xmlns:a="http://schemas.openxmlformats.org/drawingml/2006/main" noGrp="1"/>
          </p:cNvSpPr>
          <p:nvPr/>
        </p:nvSpPr>
        <p:spPr>
          <a:xfrm xmlns:a="http://schemas.openxmlformats.org/drawingml/2006/main">
            <a:off x="8001000" y="2533650"/>
            <a:ext cx="33909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defRPr>
            </a:pPr>
            <a:r>
              <a:rPr sz="1650" b="0">
                <a:solidFill>
                  <a:srgbClr val="111111"/>
                </a:solidFill>
              </a:rPr>
              <a:t>• 파이프라인은 재현 가능</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로지스틱 회귀가 두 데이터에서 우세</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희귀 양성으로 AUPRC가 낮음</a:t>
            </a:r>
          </a:p>
          <a:p xmlns:a="http://schemas.openxmlformats.org/drawingml/2006/main">
            <a:r>
              <a:t/>
            </a:r>
          </a:p>
          <a:p xmlns:a="http://schemas.openxmlformats.org/drawingml/2006/main">
            <a:pPr algn="l">
              <a:defRPr sz="1650" b="0">
                <a:solidFill>
                  <a:srgbClr val="111111"/>
                </a:solidFill>
              </a:defRPr>
            </a:pPr>
            <a:r>
              <a:rPr sz="1650" b="0">
                <a:solidFill>
                  <a:srgbClr val="111111"/>
                </a:solidFill>
              </a:rPr>
              <a:t>• 보정 전 확률은 사용자에게 비공개</a:t>
            </a:r>
          </a:p>
        </p:txBody>
      </p:sp>
      <p:sp>
        <p:nvSpPr>
          <p:cNvPr id="8" name="">
            <a:extLst xmlns:a="http://schemas.openxmlformats.org/drawingml/2006/main">
              <a:ext uri="{FF2B5EF4-FFF2-40B4-BE49-F238E27FC236}">
                <a16:creationId xmlns:a16="http://schemas.microsoft.com/office/drawing/2014/main" id="{0FF90885-6F03-4536-8CD1-119742C53045}"/>
              </a:ext>
            </a:extLst>
          </p:cNvPr>
          <p:cNvSpPr>
            <a:spLocks xmlns:a="http://schemas.openxmlformats.org/drawingml/2006/main" noGrp="1"/>
          </p:cNvSpPr>
          <p:nvPr/>
        </p:nvSpPr>
        <p:spPr>
          <a:xfrm xmlns:a="http://schemas.openxmlformats.org/drawingml/2006/main">
            <a:off x="8001000" y="4991100"/>
            <a:ext cx="3390900" cy="609600"/>
          </a:xfrm>
          <a:prstGeom xmlns:a="http://schemas.openxmlformats.org/drawingml/2006/main" prst="rect">
            <a:avLst/>
          </a:prstGeom>
          <a:solidFill xmlns:a="http://schemas.openxmlformats.org/drawingml/2006/main">
            <a:srgbClr val="FFF2E5"/>
          </a:solidFill>
          <a:ln xmlns:a="http://schemas.openxmlformats.org/drawingml/2006/main" w="0">
            <a:solidFill>
              <a:srgbClr val="FFF2E5"/>
            </a:solidFill>
            <a:prstDash val="solid"/>
          </a:ln>
        </p:spPr>
      </p:sp>
      <p:sp>
        <p:nvSpPr>
          <p:cNvPr id="9" name="">
            <a:extLst xmlns:a="http://schemas.openxmlformats.org/drawingml/2006/main">
              <a:ext uri="{FF2B5EF4-FFF2-40B4-BE49-F238E27FC236}">
                <a16:creationId xmlns:a16="http://schemas.microsoft.com/office/drawing/2014/main" id="{F4D3586D-51D8-4C65-B32F-646522FBF855}"/>
              </a:ext>
            </a:extLst>
          </p:cNvPr>
          <p:cNvSpPr>
            <a:spLocks xmlns:a="http://schemas.openxmlformats.org/drawingml/2006/main" noGrp="1"/>
          </p:cNvSpPr>
          <p:nvPr/>
        </p:nvSpPr>
        <p:spPr>
          <a:xfrm xmlns:a="http://schemas.openxmlformats.org/drawingml/2006/main">
            <a:off x="8172450" y="508635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D97706"/>
                </a:solidFill>
              </a:defRPr>
            </a:pPr>
            <a:r>
              <a:rPr sz="1425" b="1">
                <a:solidFill>
                  <a:srgbClr val="D97706"/>
                </a:solidFill>
              </a:rPr>
              <a:t>두 데이터는 타깃이 달라</a:t>
            </a:r>
          </a:p>
          <a:p xmlns:a="http://schemas.openxmlformats.org/drawingml/2006/main">
            <a:pPr algn="l">
              <a:defRPr sz="1425" b="1">
                <a:solidFill>
                  <a:srgbClr val="D97706"/>
                </a:solidFill>
              </a:defRPr>
            </a:pPr>
            <a:r>
              <a:rPr sz="1425" b="1">
                <a:solidFill>
                  <a:srgbClr val="D97706"/>
                </a:solidFill>
              </a:rPr>
              <a:t>성능을 직접 비교하지 않습니다.</a:t>
            </a:r>
          </a:p>
        </p:txBody>
      </p:sp>
    </p:spTree>
    <p:extLst>
      <p:ext uri="{BB962C8B-B14F-4D97-AF65-F5344CB8AC3E}">
        <p14:creationId xmlns:p14="http://schemas.microsoft.com/office/powerpoint/2010/main" val="10563192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3289AED-6F2D-4F02-8A73-8C4490A823DF}"/>
              </a:ext>
            </a:extLst>
          </p:cNvPr>
          <p:cNvSpPr>
            <a:spLocks xmlns:a="http://schemas.openxmlformats.org/drawingml/2006/main" noGrp="1"/>
          </p:cNvSpPr>
          <p:nvPr/>
        </p:nvSpPr>
        <p:spPr>
          <a:xfrm xmlns:a="http://schemas.openxmlformats.org/drawingml/2006/main">
            <a:off x="609600" y="3429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04 · TECHNICAL CONTRACT</a:t>
            </a:r>
          </a:p>
        </p:txBody>
      </p:sp>
      <p:sp>
        <p:nvSpPr>
          <p:cNvPr id="2" name="">
            <a:extLst xmlns:a="http://schemas.openxmlformats.org/drawingml/2006/main">
              <a:ext uri="{FF2B5EF4-FFF2-40B4-BE49-F238E27FC236}">
                <a16:creationId xmlns:a16="http://schemas.microsoft.com/office/drawing/2014/main" id="{FE617964-6206-4A20-A81F-E0050E63163D}"/>
              </a:ext>
            </a:extLst>
          </p:cNvPr>
          <p:cNvSpPr>
            <a:spLocks xmlns:a="http://schemas.openxmlformats.org/drawingml/2006/main" noGrp="1"/>
          </p:cNvSpPr>
          <p:nvPr/>
        </p:nvSpPr>
        <p:spPr>
          <a:xfrm xmlns:a="http://schemas.openxmlformats.org/drawingml/2006/main">
            <a:off x="609600" y="7239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11111"/>
                </a:solidFill>
              </a:defRPr>
            </a:pPr>
            <a:r>
              <a:rPr sz="3450" b="1">
                <a:solidFill>
                  <a:srgbClr val="111111"/>
                </a:solidFill>
              </a:rPr>
              <a:t>피드백을 화면·API·DB 계약으로 연결했습니다</a:t>
            </a:r>
          </a:p>
        </p:txBody>
      </p:sp>
      <p:sp>
        <p:nvSpPr>
          <p:cNvPr id="3" name="">
            <a:extLst xmlns:a="http://schemas.openxmlformats.org/drawingml/2006/main">
              <a:ext uri="{FF2B5EF4-FFF2-40B4-BE49-F238E27FC236}">
                <a16:creationId xmlns:a16="http://schemas.microsoft.com/office/drawing/2014/main" id="{D2147D62-C1AC-40EF-91C7-C0EA53D630D6}"/>
              </a:ext>
            </a:extLst>
          </p:cNvPr>
          <p:cNvSpPr>
            <a:spLocks xmlns:a="http://schemas.openxmlformats.org/drawingml/2006/main" noGrp="1"/>
          </p:cNvSpPr>
          <p:nvPr/>
        </p:nvSpPr>
        <p:spPr>
          <a:xfrm xmlns:a="http://schemas.openxmlformats.org/drawingml/2006/main">
            <a:off x="609600" y="1409700"/>
            <a:ext cx="10972800" cy="190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4" name="">
            <a:extLst xmlns:a="http://schemas.openxmlformats.org/drawingml/2006/main">
              <a:ext uri="{FF2B5EF4-FFF2-40B4-BE49-F238E27FC236}">
                <a16:creationId xmlns:a16="http://schemas.microsoft.com/office/drawing/2014/main" id="{84D524C9-31C5-41AD-A258-5C3AEEE444D4}"/>
              </a:ext>
            </a:extLst>
          </p:cNvPr>
          <p:cNvSpPr>
            <a:spLocks xmlns:a="http://schemas.openxmlformats.org/drawingml/2006/main" noGrp="1"/>
          </p:cNvSpPr>
          <p:nvPr/>
        </p:nvSpPr>
        <p:spPr>
          <a:xfrm xmlns:a="http://schemas.openxmlformats.org/drawingml/2006/main">
            <a:off x="11201400" y="636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06A"/>
                </a:solidFill>
              </a:defRPr>
            </a:pPr>
            <a:r>
              <a:rPr sz="1050" b="0">
                <a:solidFill>
                  <a:srgbClr val="59606A"/>
                </a:solidFill>
              </a:rPr>
              <a:t>05</a:t>
            </a:r>
          </a:p>
        </p:txBody>
      </p:sp>
      <p:sp>
        <p:nvSpPr>
          <p:cNvPr id="5" name="">
            <a:extLst xmlns:a="http://schemas.openxmlformats.org/drawingml/2006/main">
              <a:ext uri="{FF2B5EF4-FFF2-40B4-BE49-F238E27FC236}">
                <a16:creationId xmlns:a16="http://schemas.microsoft.com/office/drawing/2014/main" id="{6632FD72-4370-4F06-B33B-CBA45FFF0947}"/>
              </a:ext>
            </a:extLst>
          </p:cNvPr>
          <p:cNvSpPr>
            <a:spLocks xmlns:a="http://schemas.openxmlformats.org/drawingml/2006/main" noGrp="1"/>
          </p:cNvSpPr>
          <p:nvPr/>
        </p:nvSpPr>
        <p:spPr>
          <a:xfrm xmlns:a="http://schemas.openxmlformats.org/drawingml/2006/main">
            <a:off x="1095375" y="3276600"/>
            <a:ext cx="9715500" cy="28575"/>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6" name="">
            <a:extLst xmlns:a="http://schemas.openxmlformats.org/drawingml/2006/main">
              <a:ext uri="{FF2B5EF4-FFF2-40B4-BE49-F238E27FC236}">
                <a16:creationId xmlns:a16="http://schemas.microsoft.com/office/drawing/2014/main" id="{DF90D884-3935-4BEF-B603-6D2D1E5A7CF5}"/>
              </a:ext>
            </a:extLst>
          </p:cNvPr>
          <p:cNvSpPr>
            <a:spLocks xmlns:a="http://schemas.openxmlformats.org/drawingml/2006/main" noGrp="1"/>
          </p:cNvSpPr>
          <p:nvPr/>
        </p:nvSpPr>
        <p:spPr>
          <a:xfrm xmlns:a="http://schemas.openxmlformats.org/drawingml/2006/main">
            <a:off x="1238250" y="3133725"/>
            <a:ext cx="228600" cy="2286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B2ADCF2C-1443-4D75-B9F2-18BF5B4D12EA}"/>
              </a:ext>
            </a:extLst>
          </p:cNvPr>
          <p:cNvSpPr>
            <a:spLocks xmlns:a="http://schemas.openxmlformats.org/drawingml/2006/main" noGrp="1"/>
          </p:cNvSpPr>
          <p:nvPr/>
        </p:nvSpPr>
        <p:spPr>
          <a:xfrm xmlns:a="http://schemas.openxmlformats.org/drawingml/2006/main">
            <a:off x="1123950" y="19240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Eligibility</a:t>
            </a:r>
          </a:p>
        </p:txBody>
      </p:sp>
      <p:sp>
        <p:nvSpPr>
          <p:cNvPr id="8" name="">
            <a:extLst xmlns:a="http://schemas.openxmlformats.org/drawingml/2006/main">
              <a:ext uri="{FF2B5EF4-FFF2-40B4-BE49-F238E27FC236}">
                <a16:creationId xmlns:a16="http://schemas.microsoft.com/office/drawing/2014/main" id="{0DE20062-BDA5-4B6B-A6D5-2FACC9E7D033}"/>
              </a:ext>
            </a:extLst>
          </p:cNvPr>
          <p:cNvSpPr>
            <a:spLocks xmlns:a="http://schemas.openxmlformats.org/drawingml/2006/main" noGrp="1"/>
          </p:cNvSpPr>
          <p:nvPr/>
        </p:nvSpPr>
        <p:spPr>
          <a:xfrm xmlns:a="http://schemas.openxmlformats.org/drawingml/2006/main">
            <a:off x="1123950" y="22669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1111"/>
                </a:solidFill>
              </a:defRPr>
            </a:pPr>
            <a:r>
              <a:rPr sz="2100" b="1">
                <a:solidFill>
                  <a:srgbClr val="111111"/>
                </a:solidFill>
              </a:rPr>
              <a:t>입력</a:t>
            </a:r>
          </a:p>
        </p:txBody>
      </p:sp>
      <p:sp>
        <p:nvSpPr>
          <p:cNvPr id="9" name="">
            <a:extLst xmlns:a="http://schemas.openxmlformats.org/drawingml/2006/main">
              <a:ext uri="{FF2B5EF4-FFF2-40B4-BE49-F238E27FC236}">
                <a16:creationId xmlns:a16="http://schemas.microsoft.com/office/drawing/2014/main" id="{EE1F790C-4B95-400E-B3E2-48EB731D8A7F}"/>
              </a:ext>
            </a:extLst>
          </p:cNvPr>
          <p:cNvSpPr>
            <a:spLocks xmlns:a="http://schemas.openxmlformats.org/drawingml/2006/main" noGrp="1"/>
          </p:cNvSpPr>
          <p:nvPr/>
        </p:nvSpPr>
        <p:spPr>
          <a:xfrm xmlns:a="http://schemas.openxmlformats.org/drawingml/2006/main">
            <a:off x="1123950" y="3638550"/>
            <a:ext cx="2143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06A"/>
                </a:solidFill>
              </a:defRPr>
            </a:pPr>
            <a:r>
              <a:rPr sz="1575" b="0">
                <a:solidFill>
                  <a:srgbClr val="59606A"/>
                </a:solidFill>
              </a:rPr>
              <a:t>기진단·동의·연령을</a:t>
            </a:r>
          </a:p>
          <a:p xmlns:a="http://schemas.openxmlformats.org/drawingml/2006/main">
            <a:pPr algn="l">
              <a:defRPr sz="1575" b="0">
                <a:solidFill>
                  <a:srgbClr val="59606A"/>
                </a:solidFill>
              </a:defRPr>
            </a:pPr>
            <a:r>
              <a:rPr sz="1575" b="0">
                <a:solidFill>
                  <a:srgbClr val="59606A"/>
                </a:solidFill>
              </a:rPr>
              <a:t>서버에서도 검증</a:t>
            </a:r>
          </a:p>
        </p:txBody>
      </p:sp>
      <p:sp>
        <p:nvSpPr>
          <p:cNvPr id="10" name="">
            <a:extLst xmlns:a="http://schemas.openxmlformats.org/drawingml/2006/main">
              <a:ext uri="{FF2B5EF4-FFF2-40B4-BE49-F238E27FC236}">
                <a16:creationId xmlns:a16="http://schemas.microsoft.com/office/drawing/2014/main" id="{408FADF7-4FEB-44E5-9C6D-A97470D52653}"/>
              </a:ext>
            </a:extLst>
          </p:cNvPr>
          <p:cNvSpPr>
            <a:spLocks xmlns:a="http://schemas.openxmlformats.org/drawingml/2006/main" noGrp="1"/>
          </p:cNvSpPr>
          <p:nvPr/>
        </p:nvSpPr>
        <p:spPr>
          <a:xfrm xmlns:a="http://schemas.openxmlformats.org/drawingml/2006/main">
            <a:off x="3714750" y="3133725"/>
            <a:ext cx="228600" cy="2286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2C531843-5F65-4498-B8F1-20F6F21029BE}"/>
              </a:ext>
            </a:extLst>
          </p:cNvPr>
          <p:cNvSpPr>
            <a:spLocks xmlns:a="http://schemas.openxmlformats.org/drawingml/2006/main" noGrp="1"/>
          </p:cNvSpPr>
          <p:nvPr/>
        </p:nvSpPr>
        <p:spPr>
          <a:xfrm xmlns:a="http://schemas.openxmlformats.org/drawingml/2006/main">
            <a:off x="3600450" y="19240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PredictionJob</a:t>
            </a:r>
          </a:p>
        </p:txBody>
      </p:sp>
      <p:sp>
        <p:nvSpPr>
          <p:cNvPr id="12" name="">
            <a:extLst xmlns:a="http://schemas.openxmlformats.org/drawingml/2006/main">
              <a:ext uri="{FF2B5EF4-FFF2-40B4-BE49-F238E27FC236}">
                <a16:creationId xmlns:a16="http://schemas.microsoft.com/office/drawing/2014/main" id="{6389583C-EA18-4FBE-99E5-BBAA7B614FD8}"/>
              </a:ext>
            </a:extLst>
          </p:cNvPr>
          <p:cNvSpPr>
            <a:spLocks xmlns:a="http://schemas.openxmlformats.org/drawingml/2006/main" noGrp="1"/>
          </p:cNvSpPr>
          <p:nvPr/>
        </p:nvSpPr>
        <p:spPr>
          <a:xfrm xmlns:a="http://schemas.openxmlformats.org/drawingml/2006/main">
            <a:off x="3600450" y="22669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1111"/>
                </a:solidFill>
              </a:defRPr>
            </a:pPr>
            <a:r>
              <a:rPr sz="2100" b="1">
                <a:solidFill>
                  <a:srgbClr val="111111"/>
                </a:solidFill>
              </a:rPr>
              <a:t>작업</a:t>
            </a:r>
          </a:p>
        </p:txBody>
      </p:sp>
      <p:sp>
        <p:nvSpPr>
          <p:cNvPr id="13" name="">
            <a:extLst xmlns:a="http://schemas.openxmlformats.org/drawingml/2006/main">
              <a:ext uri="{FF2B5EF4-FFF2-40B4-BE49-F238E27FC236}">
                <a16:creationId xmlns:a16="http://schemas.microsoft.com/office/drawing/2014/main" id="{C72FB314-F2FD-4F9B-B8AB-5694CBD82847}"/>
              </a:ext>
            </a:extLst>
          </p:cNvPr>
          <p:cNvSpPr>
            <a:spLocks xmlns:a="http://schemas.openxmlformats.org/drawingml/2006/main" noGrp="1"/>
          </p:cNvSpPr>
          <p:nvPr/>
        </p:nvSpPr>
        <p:spPr>
          <a:xfrm xmlns:a="http://schemas.openxmlformats.org/drawingml/2006/main">
            <a:off x="3600450" y="3638550"/>
            <a:ext cx="2143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06A"/>
                </a:solidFill>
              </a:defRPr>
            </a:pPr>
            <a:r>
              <a:rPr sz="1575" b="0">
                <a:solidFill>
                  <a:srgbClr val="59606A"/>
                </a:solidFill>
              </a:rPr>
              <a:t>POST /api/v1/</a:t>
            </a:r>
          </a:p>
          <a:p xmlns:a="http://schemas.openxmlformats.org/drawingml/2006/main">
            <a:pPr algn="l">
              <a:defRPr sz="1575" b="0">
                <a:solidFill>
                  <a:srgbClr val="59606A"/>
                </a:solidFill>
              </a:defRPr>
            </a:pPr>
            <a:r>
              <a:rPr sz="1575" b="0">
                <a:solidFill>
                  <a:srgbClr val="59606A"/>
                </a:solidFill>
              </a:rPr>
              <a:t>prediction-jobs</a:t>
            </a:r>
          </a:p>
        </p:txBody>
      </p:sp>
      <p:sp>
        <p:nvSpPr>
          <p:cNvPr id="14" name="">
            <a:extLst xmlns:a="http://schemas.openxmlformats.org/drawingml/2006/main">
              <a:ext uri="{FF2B5EF4-FFF2-40B4-BE49-F238E27FC236}">
                <a16:creationId xmlns:a16="http://schemas.microsoft.com/office/drawing/2014/main" id="{93223F9E-78D3-43D3-87A5-5C130B453FCC}"/>
              </a:ext>
            </a:extLst>
          </p:cNvPr>
          <p:cNvSpPr>
            <a:spLocks xmlns:a="http://schemas.openxmlformats.org/drawingml/2006/main" noGrp="1"/>
          </p:cNvSpPr>
          <p:nvPr/>
        </p:nvSpPr>
        <p:spPr>
          <a:xfrm xmlns:a="http://schemas.openxmlformats.org/drawingml/2006/main">
            <a:off x="6191250" y="3133725"/>
            <a:ext cx="228600" cy="2286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5" name="">
            <a:extLst xmlns:a="http://schemas.openxmlformats.org/drawingml/2006/main">
              <a:ext uri="{FF2B5EF4-FFF2-40B4-BE49-F238E27FC236}">
                <a16:creationId xmlns:a16="http://schemas.microsoft.com/office/drawing/2014/main" id="{D00F789B-22ED-4B46-AA4C-31F4EC3D4F7C}"/>
              </a:ext>
            </a:extLst>
          </p:cNvPr>
          <p:cNvSpPr>
            <a:spLocks xmlns:a="http://schemas.openxmlformats.org/drawingml/2006/main" noGrp="1"/>
          </p:cNvSpPr>
          <p:nvPr/>
        </p:nvSpPr>
        <p:spPr>
          <a:xfrm xmlns:a="http://schemas.openxmlformats.org/drawingml/2006/main">
            <a:off x="6076950" y="19240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Prediction</a:t>
            </a:r>
          </a:p>
        </p:txBody>
      </p:sp>
      <p:sp>
        <p:nvSpPr>
          <p:cNvPr id="16" name="">
            <a:extLst xmlns:a="http://schemas.openxmlformats.org/drawingml/2006/main">
              <a:ext uri="{FF2B5EF4-FFF2-40B4-BE49-F238E27FC236}">
                <a16:creationId xmlns:a16="http://schemas.microsoft.com/office/drawing/2014/main" id="{14FCE132-5AD7-43F1-9E65-7D84FC3F3513}"/>
              </a:ext>
            </a:extLst>
          </p:cNvPr>
          <p:cNvSpPr>
            <a:spLocks xmlns:a="http://schemas.openxmlformats.org/drawingml/2006/main" noGrp="1"/>
          </p:cNvSpPr>
          <p:nvPr/>
        </p:nvSpPr>
        <p:spPr>
          <a:xfrm xmlns:a="http://schemas.openxmlformats.org/drawingml/2006/main">
            <a:off x="6076950" y="22669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1111"/>
                </a:solidFill>
              </a:defRPr>
            </a:pPr>
            <a:r>
              <a:rPr sz="2100" b="1">
                <a:solidFill>
                  <a:srgbClr val="111111"/>
                </a:solidFill>
              </a:rPr>
              <a:t>결과</a:t>
            </a:r>
          </a:p>
        </p:txBody>
      </p:sp>
      <p:sp>
        <p:nvSpPr>
          <p:cNvPr id="17" name="">
            <a:extLst xmlns:a="http://schemas.openxmlformats.org/drawingml/2006/main">
              <a:ext uri="{FF2B5EF4-FFF2-40B4-BE49-F238E27FC236}">
                <a16:creationId xmlns:a16="http://schemas.microsoft.com/office/drawing/2014/main" id="{908B217D-F958-4238-BED6-499821560667}"/>
              </a:ext>
            </a:extLst>
          </p:cNvPr>
          <p:cNvSpPr>
            <a:spLocks xmlns:a="http://schemas.openxmlformats.org/drawingml/2006/main" noGrp="1"/>
          </p:cNvSpPr>
          <p:nvPr/>
        </p:nvSpPr>
        <p:spPr>
          <a:xfrm xmlns:a="http://schemas.openxmlformats.org/drawingml/2006/main">
            <a:off x="6076950" y="3638550"/>
            <a:ext cx="2143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06A"/>
                </a:solidFill>
              </a:defRPr>
            </a:pPr>
            <a:r>
              <a:rPr sz="1575" b="0">
                <a:solidFill>
                  <a:srgbClr val="59606A"/>
                </a:solidFill>
              </a:rPr>
              <a:t>queued → running →</a:t>
            </a:r>
          </a:p>
          <a:p xmlns:a="http://schemas.openxmlformats.org/drawingml/2006/main">
            <a:pPr algn="l">
              <a:defRPr sz="1575" b="0">
                <a:solidFill>
                  <a:srgbClr val="59606A"/>
                </a:solidFill>
              </a:defRPr>
            </a:pPr>
            <a:r>
              <a:rPr sz="1575" b="0">
                <a:solidFill>
                  <a:srgbClr val="59606A"/>
                </a:solidFill>
              </a:rPr>
              <a:t>succeeded / failed</a:t>
            </a:r>
          </a:p>
        </p:txBody>
      </p:sp>
      <p:sp>
        <p:nvSpPr>
          <p:cNvPr id="18" name="">
            <a:extLst xmlns:a="http://schemas.openxmlformats.org/drawingml/2006/main">
              <a:ext uri="{FF2B5EF4-FFF2-40B4-BE49-F238E27FC236}">
                <a16:creationId xmlns:a16="http://schemas.microsoft.com/office/drawing/2014/main" id="{8FDE08DC-7200-4837-B482-38553771838E}"/>
              </a:ext>
            </a:extLst>
          </p:cNvPr>
          <p:cNvSpPr>
            <a:spLocks xmlns:a="http://schemas.openxmlformats.org/drawingml/2006/main" noGrp="1"/>
          </p:cNvSpPr>
          <p:nvPr/>
        </p:nvSpPr>
        <p:spPr>
          <a:xfrm xmlns:a="http://schemas.openxmlformats.org/drawingml/2006/main">
            <a:off x="8667750" y="3133725"/>
            <a:ext cx="228600" cy="2286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9" name="">
            <a:extLst xmlns:a="http://schemas.openxmlformats.org/drawingml/2006/main">
              <a:ext uri="{FF2B5EF4-FFF2-40B4-BE49-F238E27FC236}">
                <a16:creationId xmlns:a16="http://schemas.microsoft.com/office/drawing/2014/main" id="{EFFF237B-CFB9-4D66-96B4-748DD72CDD69}"/>
              </a:ext>
            </a:extLst>
          </p:cNvPr>
          <p:cNvSpPr>
            <a:spLocks xmlns:a="http://schemas.openxmlformats.org/drawingml/2006/main" noGrp="1"/>
          </p:cNvSpPr>
          <p:nvPr/>
        </p:nvSpPr>
        <p:spPr>
          <a:xfrm xmlns:a="http://schemas.openxmlformats.org/drawingml/2006/main">
            <a:off x="8553450" y="19240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RiskFactor</a:t>
            </a:r>
          </a:p>
        </p:txBody>
      </p:sp>
      <p:sp>
        <p:nvSpPr>
          <p:cNvPr id="20" name="">
            <a:extLst xmlns:a="http://schemas.openxmlformats.org/drawingml/2006/main">
              <a:ext uri="{FF2B5EF4-FFF2-40B4-BE49-F238E27FC236}">
                <a16:creationId xmlns:a16="http://schemas.microsoft.com/office/drawing/2014/main" id="{4FAA9FEB-A1D2-43A5-B1C5-482904E678BA}"/>
              </a:ext>
            </a:extLst>
          </p:cNvPr>
          <p:cNvSpPr>
            <a:spLocks xmlns:a="http://schemas.openxmlformats.org/drawingml/2006/main" noGrp="1"/>
          </p:cNvSpPr>
          <p:nvPr/>
        </p:nvSpPr>
        <p:spPr>
          <a:xfrm xmlns:a="http://schemas.openxmlformats.org/drawingml/2006/main">
            <a:off x="8553450" y="22669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1111"/>
                </a:solidFill>
              </a:defRPr>
            </a:pPr>
            <a:r>
              <a:rPr sz="2100" b="1">
                <a:solidFill>
                  <a:srgbClr val="111111"/>
                </a:solidFill>
              </a:rPr>
              <a:t>설명·행동</a:t>
            </a:r>
          </a:p>
        </p:txBody>
      </p:sp>
      <p:sp>
        <p:nvSpPr>
          <p:cNvPr id="21" name="">
            <a:extLst xmlns:a="http://schemas.openxmlformats.org/drawingml/2006/main">
              <a:ext uri="{FF2B5EF4-FFF2-40B4-BE49-F238E27FC236}">
                <a16:creationId xmlns:a16="http://schemas.microsoft.com/office/drawing/2014/main" id="{5E434351-5F83-487E-AD08-BA5A347FB919}"/>
              </a:ext>
            </a:extLst>
          </p:cNvPr>
          <p:cNvSpPr>
            <a:spLocks xmlns:a="http://schemas.openxmlformats.org/drawingml/2006/main" noGrp="1"/>
          </p:cNvSpPr>
          <p:nvPr/>
        </p:nvSpPr>
        <p:spPr>
          <a:xfrm xmlns:a="http://schemas.openxmlformats.org/drawingml/2006/main">
            <a:off x="8553450" y="3638550"/>
            <a:ext cx="2143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9606A"/>
                </a:solidFill>
              </a:defRPr>
            </a:pPr>
            <a:r>
              <a:rPr sz="1575" b="0">
                <a:solidFill>
                  <a:srgbClr val="59606A"/>
                </a:solidFill>
              </a:rPr>
              <a:t>검증된 범주와</a:t>
            </a:r>
          </a:p>
          <a:p xmlns:a="http://schemas.openxmlformats.org/drawingml/2006/main">
            <a:pPr algn="l">
              <a:defRPr sz="1575" b="0">
                <a:solidFill>
                  <a:srgbClr val="59606A"/>
                </a:solidFill>
              </a:defRPr>
            </a:pPr>
            <a:r>
              <a:rPr sz="1575" b="0">
                <a:solidFill>
                  <a:srgbClr val="59606A"/>
                </a:solidFill>
              </a:rPr>
              <a:t>일반 건강 챌린지</a:t>
            </a:r>
          </a:p>
        </p:txBody>
      </p:sp>
      <p:sp>
        <p:nvSpPr>
          <p:cNvPr id="22" name="">
            <a:extLst xmlns:a="http://schemas.openxmlformats.org/drawingml/2006/main">
              <a:ext uri="{FF2B5EF4-FFF2-40B4-BE49-F238E27FC236}">
                <a16:creationId xmlns:a16="http://schemas.microsoft.com/office/drawing/2014/main" id="{A1BF2790-2B7D-44BA-86E8-ED82F2789DE9}"/>
              </a:ext>
            </a:extLst>
          </p:cNvPr>
          <p:cNvSpPr>
            <a:spLocks xmlns:a="http://schemas.openxmlformats.org/drawingml/2006/main" noGrp="1"/>
          </p:cNvSpPr>
          <p:nvPr/>
        </p:nvSpPr>
        <p:spPr>
          <a:xfrm xmlns:a="http://schemas.openxmlformats.org/drawingml/2006/main">
            <a:off x="1104900" y="4972050"/>
            <a:ext cx="9620250" cy="647700"/>
          </a:xfrm>
          <a:prstGeom xmlns:a="http://schemas.openxmlformats.org/drawingml/2006/main" prst="rect">
            <a:avLst/>
          </a:prstGeom>
          <a:solidFill xmlns:a="http://schemas.openxmlformats.org/drawingml/2006/main">
            <a:srgbClr val="EDEDED"/>
          </a:solidFill>
          <a:ln xmlns:a="http://schemas.openxmlformats.org/drawingml/2006/main" w="0">
            <a:solidFill>
              <a:srgbClr val="EDEDED"/>
            </a:solidFill>
            <a:prstDash val="solid"/>
          </a:ln>
        </p:spPr>
      </p:sp>
      <p:sp>
        <p:nvSpPr>
          <p:cNvPr id="23" name="">
            <a:extLst xmlns:a="http://schemas.openxmlformats.org/drawingml/2006/main">
              <a:ext uri="{FF2B5EF4-FFF2-40B4-BE49-F238E27FC236}">
                <a16:creationId xmlns:a16="http://schemas.microsoft.com/office/drawing/2014/main" id="{D1526EFC-CECE-4434-B863-C01CCB2B9353}"/>
              </a:ext>
            </a:extLst>
          </p:cNvPr>
          <p:cNvSpPr>
            <a:spLocks xmlns:a="http://schemas.openxmlformats.org/drawingml/2006/main" noGrp="1"/>
          </p:cNvSpPr>
          <p:nvPr/>
        </p:nvSpPr>
        <p:spPr>
          <a:xfrm xmlns:a="http://schemas.openxmlformats.org/drawingml/2006/main">
            <a:off x="1371600" y="5133975"/>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11111"/>
                </a:solidFill>
              </a:defRPr>
            </a:pPr>
            <a:r>
              <a:rPr sz="1800" b="1">
                <a:solidFill>
                  <a:srgbClr val="111111"/>
                </a:solidFill>
              </a:rPr>
              <a:t>Redis는 단기 상태 · DB는 지속 가능한 최소 이력 · 원시 확률은 승인 전 비공개</a:t>
            </a:r>
          </a:p>
        </p:txBody>
      </p:sp>
    </p:spTree>
    <p:extLst>
      <p:ext uri="{BB962C8B-B14F-4D97-AF65-F5344CB8AC3E}">
        <p14:creationId xmlns:p14="http://schemas.microsoft.com/office/powerpoint/2010/main" val="5899000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53A1738-9158-4D9E-A9ED-FBB865D2F94B}"/>
              </a:ext>
            </a:extLst>
          </p:cNvPr>
          <p:cNvSpPr>
            <a:spLocks xmlns:a="http://schemas.openxmlformats.org/drawingml/2006/main" noGrp="1"/>
          </p:cNvSpPr>
          <p:nvPr/>
        </p:nvSpPr>
        <p:spPr>
          <a:xfrm xmlns:a="http://schemas.openxmlformats.org/drawingml/2006/main">
            <a:off x="609600" y="3429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05 · CURRENT STATUS</a:t>
            </a:r>
          </a:p>
        </p:txBody>
      </p:sp>
      <p:sp>
        <p:nvSpPr>
          <p:cNvPr id="2" name="">
            <a:extLst xmlns:a="http://schemas.openxmlformats.org/drawingml/2006/main">
              <a:ext uri="{FF2B5EF4-FFF2-40B4-BE49-F238E27FC236}">
                <a16:creationId xmlns:a16="http://schemas.microsoft.com/office/drawing/2014/main" id="{625D06EE-E6D2-4378-9D20-FC6FBDB7D959}"/>
              </a:ext>
            </a:extLst>
          </p:cNvPr>
          <p:cNvSpPr>
            <a:spLocks xmlns:a="http://schemas.openxmlformats.org/drawingml/2006/main" noGrp="1"/>
          </p:cNvSpPr>
          <p:nvPr/>
        </p:nvSpPr>
        <p:spPr>
          <a:xfrm xmlns:a="http://schemas.openxmlformats.org/drawingml/2006/main">
            <a:off x="609600" y="7239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11111"/>
                </a:solidFill>
              </a:defRPr>
            </a:pPr>
            <a:r>
              <a:rPr sz="3450" b="1">
                <a:solidFill>
                  <a:srgbClr val="111111"/>
                </a:solidFill>
              </a:rPr>
              <a:t>기준선은 준비됐고, 이제 세로 흐름을 연결합니다</a:t>
            </a:r>
          </a:p>
        </p:txBody>
      </p:sp>
      <p:sp>
        <p:nvSpPr>
          <p:cNvPr id="3" name="">
            <a:extLst xmlns:a="http://schemas.openxmlformats.org/drawingml/2006/main">
              <a:ext uri="{FF2B5EF4-FFF2-40B4-BE49-F238E27FC236}">
                <a16:creationId xmlns:a16="http://schemas.microsoft.com/office/drawing/2014/main" id="{E507E330-D1FA-4CFC-A7E3-459B6277B36B}"/>
              </a:ext>
            </a:extLst>
          </p:cNvPr>
          <p:cNvSpPr>
            <a:spLocks xmlns:a="http://schemas.openxmlformats.org/drawingml/2006/main" noGrp="1"/>
          </p:cNvSpPr>
          <p:nvPr/>
        </p:nvSpPr>
        <p:spPr>
          <a:xfrm xmlns:a="http://schemas.openxmlformats.org/drawingml/2006/main">
            <a:off x="609600" y="1409700"/>
            <a:ext cx="10972800" cy="190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4" name="">
            <a:extLst xmlns:a="http://schemas.openxmlformats.org/drawingml/2006/main">
              <a:ext uri="{FF2B5EF4-FFF2-40B4-BE49-F238E27FC236}">
                <a16:creationId xmlns:a16="http://schemas.microsoft.com/office/drawing/2014/main" id="{3700933F-1A76-4C6E-ADD3-AD8B3F553BC7}"/>
              </a:ext>
            </a:extLst>
          </p:cNvPr>
          <p:cNvSpPr>
            <a:spLocks xmlns:a="http://schemas.openxmlformats.org/drawingml/2006/main" noGrp="1"/>
          </p:cNvSpPr>
          <p:nvPr/>
        </p:nvSpPr>
        <p:spPr>
          <a:xfrm xmlns:a="http://schemas.openxmlformats.org/drawingml/2006/main">
            <a:off x="11201400" y="636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06A"/>
                </a:solidFill>
              </a:defRPr>
            </a:pPr>
            <a:r>
              <a:rPr sz="1050" b="0">
                <a:solidFill>
                  <a:srgbClr val="59606A"/>
                </a:solidFill>
              </a:rPr>
              <a:t>06</a:t>
            </a:r>
          </a:p>
        </p:txBody>
      </p:sp>
      <p:sp>
        <p:nvSpPr>
          <p:cNvPr id="5" name="">
            <a:extLst xmlns:a="http://schemas.openxmlformats.org/drawingml/2006/main">
              <a:ext uri="{FF2B5EF4-FFF2-40B4-BE49-F238E27FC236}">
                <a16:creationId xmlns:a16="http://schemas.microsoft.com/office/drawing/2014/main" id="{05B90743-6C5F-4737-ADF8-75A40D5BEC68}"/>
              </a:ext>
            </a:extLst>
          </p:cNvPr>
          <p:cNvSpPr>
            <a:spLocks xmlns:a="http://schemas.openxmlformats.org/drawingml/2006/main" noGrp="1"/>
          </p:cNvSpPr>
          <p:nvPr/>
        </p:nvSpPr>
        <p:spPr>
          <a:xfrm xmlns:a="http://schemas.openxmlformats.org/drawingml/2006/main">
            <a:off x="685800" y="18288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2E8B57"/>
                </a:solidFill>
              </a:defRPr>
            </a:pPr>
            <a:r>
              <a:rPr sz="2025" b="1">
                <a:solidFill>
                  <a:srgbClr val="2E8B57"/>
                </a:solidFill>
              </a:rPr>
              <a:t>완료</a:t>
            </a:r>
          </a:p>
        </p:txBody>
      </p:sp>
      <p:sp>
        <p:nvSpPr>
          <p:cNvPr id="6" name="">
            <a:extLst xmlns:a="http://schemas.openxmlformats.org/drawingml/2006/main">
              <a:ext uri="{FF2B5EF4-FFF2-40B4-BE49-F238E27FC236}">
                <a16:creationId xmlns:a16="http://schemas.microsoft.com/office/drawing/2014/main" id="{6AD9380A-AE2C-4F8D-AB4B-7874A99938C6}"/>
              </a:ext>
            </a:extLst>
          </p:cNvPr>
          <p:cNvSpPr>
            <a:spLocks xmlns:a="http://schemas.openxmlformats.org/drawingml/2006/main" noGrp="1"/>
          </p:cNvSpPr>
          <p:nvPr/>
        </p:nvSpPr>
        <p:spPr>
          <a:xfrm xmlns:a="http://schemas.openxmlformats.org/drawingml/2006/main">
            <a:off x="742950" y="23812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E8B57"/>
                </a:solidFill>
              </a:defRPr>
            </a:pPr>
            <a:r>
              <a:rPr sz="1650" b="1">
                <a:solidFill>
                  <a:srgbClr val="2E8B57"/>
                </a:solidFill>
              </a:rPr>
              <a:t>✓</a:t>
            </a:r>
          </a:p>
        </p:txBody>
      </p:sp>
      <p:sp>
        <p:nvSpPr>
          <p:cNvPr id="7" name="">
            <a:extLst xmlns:a="http://schemas.openxmlformats.org/drawingml/2006/main">
              <a:ext uri="{FF2B5EF4-FFF2-40B4-BE49-F238E27FC236}">
                <a16:creationId xmlns:a16="http://schemas.microsoft.com/office/drawing/2014/main" id="{C784E745-BA9A-41BF-A64F-4358CE28B584}"/>
              </a:ext>
            </a:extLst>
          </p:cNvPr>
          <p:cNvSpPr>
            <a:spLocks xmlns:a="http://schemas.openxmlformats.org/drawingml/2006/main" noGrp="1"/>
          </p:cNvSpPr>
          <p:nvPr/>
        </p:nvSpPr>
        <p:spPr>
          <a:xfrm xmlns:a="http://schemas.openxmlformats.org/drawingml/2006/main">
            <a:off x="1143000" y="23526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defRPr>
            </a:pPr>
            <a:r>
              <a:rPr sz="1650" b="0">
                <a:solidFill>
                  <a:srgbClr val="111111"/>
                </a:solidFill>
              </a:rPr>
              <a:t>요구사항·API 명세 v2.0</a:t>
            </a:r>
          </a:p>
        </p:txBody>
      </p:sp>
      <p:sp>
        <p:nvSpPr>
          <p:cNvPr id="8" name="">
            <a:extLst xmlns:a="http://schemas.openxmlformats.org/drawingml/2006/main">
              <a:ext uri="{FF2B5EF4-FFF2-40B4-BE49-F238E27FC236}">
                <a16:creationId xmlns:a16="http://schemas.microsoft.com/office/drawing/2014/main" id="{0B9E3D51-B171-46DB-86FB-1EAD69F85D8D}"/>
              </a:ext>
            </a:extLst>
          </p:cNvPr>
          <p:cNvSpPr>
            <a:spLocks xmlns:a="http://schemas.openxmlformats.org/drawingml/2006/main" noGrp="1"/>
          </p:cNvSpPr>
          <p:nvPr/>
        </p:nvSpPr>
        <p:spPr>
          <a:xfrm xmlns:a="http://schemas.openxmlformats.org/drawingml/2006/main">
            <a:off x="742950" y="29337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E8B57"/>
                </a:solidFill>
              </a:defRPr>
            </a:pPr>
            <a:r>
              <a:rPr sz="1650" b="1">
                <a:solidFill>
                  <a:srgbClr val="2E8B57"/>
                </a:solidFill>
              </a:rPr>
              <a:t>✓</a:t>
            </a:r>
          </a:p>
        </p:txBody>
      </p:sp>
      <p:sp>
        <p:nvSpPr>
          <p:cNvPr id="9" name="">
            <a:extLst xmlns:a="http://schemas.openxmlformats.org/drawingml/2006/main">
              <a:ext uri="{FF2B5EF4-FFF2-40B4-BE49-F238E27FC236}">
                <a16:creationId xmlns:a16="http://schemas.microsoft.com/office/drawing/2014/main" id="{5B2A1E61-7871-417A-8449-39DCF55A416A}"/>
              </a:ext>
            </a:extLst>
          </p:cNvPr>
          <p:cNvSpPr>
            <a:spLocks xmlns:a="http://schemas.openxmlformats.org/drawingml/2006/main" noGrp="1"/>
          </p:cNvSpPr>
          <p:nvPr/>
        </p:nvSpPr>
        <p:spPr>
          <a:xfrm xmlns:a="http://schemas.openxmlformats.org/drawingml/2006/main">
            <a:off x="1143000" y="290512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defRPr>
            </a:pPr>
            <a:r>
              <a:rPr sz="1650" b="0">
                <a:solidFill>
                  <a:srgbClr val="111111"/>
                </a:solidFill>
              </a:rPr>
              <a:t>서비스 대상·안전 문구</a:t>
            </a:r>
          </a:p>
        </p:txBody>
      </p:sp>
      <p:sp>
        <p:nvSpPr>
          <p:cNvPr id="10" name="">
            <a:extLst xmlns:a="http://schemas.openxmlformats.org/drawingml/2006/main">
              <a:ext uri="{FF2B5EF4-FFF2-40B4-BE49-F238E27FC236}">
                <a16:creationId xmlns:a16="http://schemas.microsoft.com/office/drawing/2014/main" id="{0E65D6EB-2EB9-4D98-A56F-EF8F51EAF6FD}"/>
              </a:ext>
            </a:extLst>
          </p:cNvPr>
          <p:cNvSpPr>
            <a:spLocks xmlns:a="http://schemas.openxmlformats.org/drawingml/2006/main" noGrp="1"/>
          </p:cNvSpPr>
          <p:nvPr/>
        </p:nvSpPr>
        <p:spPr>
          <a:xfrm xmlns:a="http://schemas.openxmlformats.org/drawingml/2006/main">
            <a:off x="742950" y="34861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E8B57"/>
                </a:solidFill>
              </a:defRPr>
            </a:pPr>
            <a:r>
              <a:rPr sz="1650" b="1">
                <a:solidFill>
                  <a:srgbClr val="2E8B57"/>
                </a:solidFill>
              </a:rPr>
              <a:t>✓</a:t>
            </a:r>
          </a:p>
        </p:txBody>
      </p:sp>
      <p:sp>
        <p:nvSpPr>
          <p:cNvPr id="11" name="">
            <a:extLst xmlns:a="http://schemas.openxmlformats.org/drawingml/2006/main">
              <a:ext uri="{FF2B5EF4-FFF2-40B4-BE49-F238E27FC236}">
                <a16:creationId xmlns:a16="http://schemas.microsoft.com/office/drawing/2014/main" id="{3930E09C-7D5B-441F-9D6B-610443F96BDC}"/>
              </a:ext>
            </a:extLst>
          </p:cNvPr>
          <p:cNvSpPr>
            <a:spLocks xmlns:a="http://schemas.openxmlformats.org/drawingml/2006/main" noGrp="1"/>
          </p:cNvSpPr>
          <p:nvPr/>
        </p:nvSpPr>
        <p:spPr>
          <a:xfrm xmlns:a="http://schemas.openxmlformats.org/drawingml/2006/main">
            <a:off x="1143000" y="34575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defRPr>
            </a:pPr>
            <a:r>
              <a:rPr sz="1650" b="0">
                <a:solidFill>
                  <a:srgbClr val="111111"/>
                </a:solidFill>
              </a:rPr>
              <a:t>추적성·누락 QA</a:t>
            </a:r>
          </a:p>
        </p:txBody>
      </p:sp>
      <p:sp>
        <p:nvSpPr>
          <p:cNvPr id="12" name="">
            <a:extLst xmlns:a="http://schemas.openxmlformats.org/drawingml/2006/main">
              <a:ext uri="{FF2B5EF4-FFF2-40B4-BE49-F238E27FC236}">
                <a16:creationId xmlns:a16="http://schemas.microsoft.com/office/drawing/2014/main" id="{D48A4065-4D66-4741-BA9E-C7925D9C1412}"/>
              </a:ext>
            </a:extLst>
          </p:cNvPr>
          <p:cNvSpPr>
            <a:spLocks xmlns:a="http://schemas.openxmlformats.org/drawingml/2006/main" noGrp="1"/>
          </p:cNvSpPr>
          <p:nvPr/>
        </p:nvSpPr>
        <p:spPr>
          <a:xfrm xmlns:a="http://schemas.openxmlformats.org/drawingml/2006/main">
            <a:off x="742950" y="40386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E8B57"/>
                </a:solidFill>
              </a:defRPr>
            </a:pPr>
            <a:r>
              <a:rPr sz="1650" b="1">
                <a:solidFill>
                  <a:srgbClr val="2E8B57"/>
                </a:solidFill>
              </a:rPr>
              <a:t>✓</a:t>
            </a:r>
          </a:p>
        </p:txBody>
      </p:sp>
      <p:sp>
        <p:nvSpPr>
          <p:cNvPr id="13" name="">
            <a:extLst xmlns:a="http://schemas.openxmlformats.org/drawingml/2006/main">
              <a:ext uri="{FF2B5EF4-FFF2-40B4-BE49-F238E27FC236}">
                <a16:creationId xmlns:a16="http://schemas.microsoft.com/office/drawing/2014/main" id="{23941F61-DB51-4281-A381-A7309DAE84C2}"/>
              </a:ext>
            </a:extLst>
          </p:cNvPr>
          <p:cNvSpPr>
            <a:spLocks xmlns:a="http://schemas.openxmlformats.org/drawingml/2006/main" noGrp="1"/>
          </p:cNvSpPr>
          <p:nvPr/>
        </p:nvSpPr>
        <p:spPr>
          <a:xfrm xmlns:a="http://schemas.openxmlformats.org/drawingml/2006/main">
            <a:off x="1143000" y="401002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defRPr>
            </a:pPr>
            <a:r>
              <a:rPr sz="1650" b="0">
                <a:solidFill>
                  <a:srgbClr val="111111"/>
                </a:solidFill>
              </a:rPr>
              <a:t>축소 베이스라인 Draft PR #4</a:t>
            </a:r>
          </a:p>
        </p:txBody>
      </p:sp>
      <p:sp>
        <p:nvSpPr>
          <p:cNvPr id="14" name="">
            <a:extLst xmlns:a="http://schemas.openxmlformats.org/drawingml/2006/main">
              <a:ext uri="{FF2B5EF4-FFF2-40B4-BE49-F238E27FC236}">
                <a16:creationId xmlns:a16="http://schemas.microsoft.com/office/drawing/2014/main" id="{53267321-A702-4CE2-8799-2F3EB32CAB9F}"/>
              </a:ext>
            </a:extLst>
          </p:cNvPr>
          <p:cNvSpPr>
            <a:spLocks xmlns:a="http://schemas.openxmlformats.org/drawingml/2006/main" noGrp="1"/>
          </p:cNvSpPr>
          <p:nvPr/>
        </p:nvSpPr>
        <p:spPr>
          <a:xfrm xmlns:a="http://schemas.openxmlformats.org/drawingml/2006/main">
            <a:off x="742950" y="45910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2E8B57"/>
                </a:solidFill>
              </a:defRPr>
            </a:pPr>
            <a:r>
              <a:rPr sz="1650" b="1">
                <a:solidFill>
                  <a:srgbClr val="2E8B57"/>
                </a:solidFill>
              </a:rPr>
              <a:t>✓</a:t>
            </a:r>
          </a:p>
        </p:txBody>
      </p:sp>
      <p:sp>
        <p:nvSpPr>
          <p:cNvPr id="15" name="">
            <a:extLst xmlns:a="http://schemas.openxmlformats.org/drawingml/2006/main">
              <a:ext uri="{FF2B5EF4-FFF2-40B4-BE49-F238E27FC236}">
                <a16:creationId xmlns:a16="http://schemas.microsoft.com/office/drawing/2014/main" id="{E0F14E34-D1BE-4C11-BB04-61CA68699A49}"/>
              </a:ext>
            </a:extLst>
          </p:cNvPr>
          <p:cNvSpPr>
            <a:spLocks xmlns:a="http://schemas.openxmlformats.org/drawingml/2006/main" noGrp="1"/>
          </p:cNvSpPr>
          <p:nvPr/>
        </p:nvSpPr>
        <p:spPr>
          <a:xfrm xmlns:a="http://schemas.openxmlformats.org/drawingml/2006/main">
            <a:off x="1143000" y="456247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defRPr>
            </a:pPr>
            <a:r>
              <a:rPr sz="1650" b="0">
                <a:solidFill>
                  <a:srgbClr val="111111"/>
                </a:solidFill>
              </a:rPr>
              <a:t>문서 계약 테스트 11 passed</a:t>
            </a:r>
          </a:p>
        </p:txBody>
      </p:sp>
      <p:sp>
        <p:nvSpPr>
          <p:cNvPr id="16" name="">
            <a:extLst xmlns:a="http://schemas.openxmlformats.org/drawingml/2006/main">
              <a:ext uri="{FF2B5EF4-FFF2-40B4-BE49-F238E27FC236}">
                <a16:creationId xmlns:a16="http://schemas.microsoft.com/office/drawing/2014/main" id="{8CA23BAC-3A27-45B9-A349-471DC6841E18}"/>
              </a:ext>
            </a:extLst>
          </p:cNvPr>
          <p:cNvSpPr>
            <a:spLocks xmlns:a="http://schemas.openxmlformats.org/drawingml/2006/main" noGrp="1"/>
          </p:cNvSpPr>
          <p:nvPr/>
        </p:nvSpPr>
        <p:spPr>
          <a:xfrm xmlns:a="http://schemas.openxmlformats.org/drawingml/2006/main">
            <a:off x="5905500" y="1809750"/>
            <a:ext cx="19050" cy="39052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7" name="">
            <a:extLst xmlns:a="http://schemas.openxmlformats.org/drawingml/2006/main">
              <a:ext uri="{FF2B5EF4-FFF2-40B4-BE49-F238E27FC236}">
                <a16:creationId xmlns:a16="http://schemas.microsoft.com/office/drawing/2014/main" id="{1D3ACF48-B1C6-4F0A-9825-E829D62FCD94}"/>
              </a:ext>
            </a:extLst>
          </p:cNvPr>
          <p:cNvSpPr>
            <a:spLocks xmlns:a="http://schemas.openxmlformats.org/drawingml/2006/main" noGrp="1"/>
          </p:cNvSpPr>
          <p:nvPr/>
        </p:nvSpPr>
        <p:spPr>
          <a:xfrm xmlns:a="http://schemas.openxmlformats.org/drawingml/2006/main">
            <a:off x="6477000" y="18288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3D8DFF"/>
                </a:solidFill>
              </a:defRPr>
            </a:pPr>
            <a:r>
              <a:rPr sz="2025" b="1">
                <a:solidFill>
                  <a:srgbClr val="3D8DFF"/>
                </a:solidFill>
              </a:rPr>
              <a:t>다음 연결</a:t>
            </a:r>
          </a:p>
        </p:txBody>
      </p:sp>
      <p:sp>
        <p:nvSpPr>
          <p:cNvPr id="18" name="">
            <a:extLst xmlns:a="http://schemas.openxmlformats.org/drawingml/2006/main">
              <a:ext uri="{FF2B5EF4-FFF2-40B4-BE49-F238E27FC236}">
                <a16:creationId xmlns:a16="http://schemas.microsoft.com/office/drawing/2014/main" id="{A8A9C8A5-6BCC-4EEF-88E3-6E6D0FDB930D}"/>
              </a:ext>
            </a:extLst>
          </p:cNvPr>
          <p:cNvSpPr>
            <a:spLocks xmlns:a="http://schemas.openxmlformats.org/drawingml/2006/main" noGrp="1"/>
          </p:cNvSpPr>
          <p:nvPr/>
        </p:nvSpPr>
        <p:spPr>
          <a:xfrm xmlns:a="http://schemas.openxmlformats.org/drawingml/2006/main">
            <a:off x="6534150" y="23812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3D8DFF"/>
                </a:solidFill>
              </a:defRPr>
            </a:pPr>
            <a:r>
              <a:rPr sz="1500" b="1">
                <a:solidFill>
                  <a:srgbClr val="3D8DFF"/>
                </a:solidFill>
              </a:rPr>
              <a:t>1</a:t>
            </a:r>
          </a:p>
        </p:txBody>
      </p:sp>
      <p:sp>
        <p:nvSpPr>
          <p:cNvPr id="19" name="">
            <a:extLst xmlns:a="http://schemas.openxmlformats.org/drawingml/2006/main">
              <a:ext uri="{FF2B5EF4-FFF2-40B4-BE49-F238E27FC236}">
                <a16:creationId xmlns:a16="http://schemas.microsoft.com/office/drawing/2014/main" id="{CBFBB794-81DF-4910-9410-39125532B983}"/>
              </a:ext>
            </a:extLst>
          </p:cNvPr>
          <p:cNvSpPr>
            <a:spLocks xmlns:a="http://schemas.openxmlformats.org/drawingml/2006/main" noGrp="1"/>
          </p:cNvSpPr>
          <p:nvPr/>
        </p:nvSpPr>
        <p:spPr>
          <a:xfrm xmlns:a="http://schemas.openxmlformats.org/drawingml/2006/main">
            <a:off x="6934200" y="2352675"/>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defRPr>
            </a:pPr>
            <a:r>
              <a:rPr sz="1650" b="0">
                <a:solidFill>
                  <a:srgbClr val="111111"/>
                </a:solidFill>
              </a:rPr>
              <a:t>전체 표본·연령 하위집단 검증</a:t>
            </a:r>
          </a:p>
        </p:txBody>
      </p:sp>
      <p:sp>
        <p:nvSpPr>
          <p:cNvPr id="20" name="">
            <a:extLst xmlns:a="http://schemas.openxmlformats.org/drawingml/2006/main">
              <a:ext uri="{FF2B5EF4-FFF2-40B4-BE49-F238E27FC236}">
                <a16:creationId xmlns:a16="http://schemas.microsoft.com/office/drawing/2014/main" id="{CEB712B2-EE5A-4F7E-A82E-99A403B2C2FF}"/>
              </a:ext>
            </a:extLst>
          </p:cNvPr>
          <p:cNvSpPr>
            <a:spLocks xmlns:a="http://schemas.openxmlformats.org/drawingml/2006/main" noGrp="1"/>
          </p:cNvSpPr>
          <p:nvPr/>
        </p:nvSpPr>
        <p:spPr>
          <a:xfrm xmlns:a="http://schemas.openxmlformats.org/drawingml/2006/main">
            <a:off x="6534150" y="29337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3D8DFF"/>
                </a:solidFill>
              </a:defRPr>
            </a:pPr>
            <a:r>
              <a:rPr sz="1500" b="1">
                <a:solidFill>
                  <a:srgbClr val="3D8DFF"/>
                </a:solidFill>
              </a:rPr>
              <a:t>2</a:t>
            </a:r>
          </a:p>
        </p:txBody>
      </p:sp>
      <p:sp>
        <p:nvSpPr>
          <p:cNvPr id="21" name="">
            <a:extLst xmlns:a="http://schemas.openxmlformats.org/drawingml/2006/main">
              <a:ext uri="{FF2B5EF4-FFF2-40B4-BE49-F238E27FC236}">
                <a16:creationId xmlns:a16="http://schemas.microsoft.com/office/drawing/2014/main" id="{67A96CBE-D2E8-49C4-88DF-64D62C549852}"/>
              </a:ext>
            </a:extLst>
          </p:cNvPr>
          <p:cNvSpPr>
            <a:spLocks xmlns:a="http://schemas.openxmlformats.org/drawingml/2006/main" noGrp="1"/>
          </p:cNvSpPr>
          <p:nvPr/>
        </p:nvSpPr>
        <p:spPr>
          <a:xfrm xmlns:a="http://schemas.openxmlformats.org/drawingml/2006/main">
            <a:off x="6934200" y="2905125"/>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defRPr>
            </a:pPr>
            <a:r>
              <a:rPr sz="1650" b="0">
                <a:solidFill>
                  <a:srgbClr val="111111"/>
                </a:solidFill>
              </a:rPr>
              <a:t>보정·임계값·모델 카드 승인</a:t>
            </a:r>
          </a:p>
        </p:txBody>
      </p:sp>
      <p:sp>
        <p:nvSpPr>
          <p:cNvPr id="22" name="">
            <a:extLst xmlns:a="http://schemas.openxmlformats.org/drawingml/2006/main">
              <a:ext uri="{FF2B5EF4-FFF2-40B4-BE49-F238E27FC236}">
                <a16:creationId xmlns:a16="http://schemas.microsoft.com/office/drawing/2014/main" id="{122B5BBC-ED73-4508-B8E9-E6CB47A5BA80}"/>
              </a:ext>
            </a:extLst>
          </p:cNvPr>
          <p:cNvSpPr>
            <a:spLocks xmlns:a="http://schemas.openxmlformats.org/drawingml/2006/main" noGrp="1"/>
          </p:cNvSpPr>
          <p:nvPr/>
        </p:nvSpPr>
        <p:spPr>
          <a:xfrm xmlns:a="http://schemas.openxmlformats.org/drawingml/2006/main">
            <a:off x="6534150" y="34861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3D8DFF"/>
                </a:solidFill>
              </a:defRPr>
            </a:pPr>
            <a:r>
              <a:rPr sz="1500" b="1">
                <a:solidFill>
                  <a:srgbClr val="3D8DFF"/>
                </a:solidFill>
              </a:rPr>
              <a:t>3</a:t>
            </a:r>
          </a:p>
        </p:txBody>
      </p:sp>
      <p:sp>
        <p:nvSpPr>
          <p:cNvPr id="23" name="">
            <a:extLst xmlns:a="http://schemas.openxmlformats.org/drawingml/2006/main">
              <a:ext uri="{FF2B5EF4-FFF2-40B4-BE49-F238E27FC236}">
                <a16:creationId xmlns:a16="http://schemas.microsoft.com/office/drawing/2014/main" id="{908149F9-B760-41D9-ACFF-52ACFD5DC65B}"/>
              </a:ext>
            </a:extLst>
          </p:cNvPr>
          <p:cNvSpPr>
            <a:spLocks xmlns:a="http://schemas.openxmlformats.org/drawingml/2006/main" noGrp="1"/>
          </p:cNvSpPr>
          <p:nvPr/>
        </p:nvSpPr>
        <p:spPr>
          <a:xfrm xmlns:a="http://schemas.openxmlformats.org/drawingml/2006/main">
            <a:off x="6934200" y="3457575"/>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defRPr>
            </a:pPr>
            <a:r>
              <a:rPr sz="1650" b="0">
                <a:solidFill>
                  <a:srgbClr val="111111"/>
                </a:solidFill>
              </a:rPr>
              <a:t>적합성–입력–비동기 예측 API</a:t>
            </a:r>
          </a:p>
        </p:txBody>
      </p:sp>
      <p:sp>
        <p:nvSpPr>
          <p:cNvPr id="24" name="">
            <a:extLst xmlns:a="http://schemas.openxmlformats.org/drawingml/2006/main">
              <a:ext uri="{FF2B5EF4-FFF2-40B4-BE49-F238E27FC236}">
                <a16:creationId xmlns:a16="http://schemas.microsoft.com/office/drawing/2014/main" id="{2A0DAABE-9DC0-46C0-B398-DCAD44211A06}"/>
              </a:ext>
            </a:extLst>
          </p:cNvPr>
          <p:cNvSpPr>
            <a:spLocks xmlns:a="http://schemas.openxmlformats.org/drawingml/2006/main" noGrp="1"/>
          </p:cNvSpPr>
          <p:nvPr/>
        </p:nvSpPr>
        <p:spPr>
          <a:xfrm xmlns:a="http://schemas.openxmlformats.org/drawingml/2006/main">
            <a:off x="6534150" y="40386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3D8DFF"/>
                </a:solidFill>
              </a:defRPr>
            </a:pPr>
            <a:r>
              <a:rPr sz="1500" b="1">
                <a:solidFill>
                  <a:srgbClr val="3D8DFF"/>
                </a:solidFill>
              </a:rPr>
              <a:t>4</a:t>
            </a:r>
          </a:p>
        </p:txBody>
      </p:sp>
      <p:sp>
        <p:nvSpPr>
          <p:cNvPr id="25" name="">
            <a:extLst xmlns:a="http://schemas.openxmlformats.org/drawingml/2006/main">
              <a:ext uri="{FF2B5EF4-FFF2-40B4-BE49-F238E27FC236}">
                <a16:creationId xmlns:a16="http://schemas.microsoft.com/office/drawing/2014/main" id="{F4A2FD09-5A65-4317-867E-7548BD400BA1}"/>
              </a:ext>
            </a:extLst>
          </p:cNvPr>
          <p:cNvSpPr>
            <a:spLocks xmlns:a="http://schemas.openxmlformats.org/drawingml/2006/main" noGrp="1"/>
          </p:cNvSpPr>
          <p:nvPr/>
        </p:nvSpPr>
        <p:spPr>
          <a:xfrm xmlns:a="http://schemas.openxmlformats.org/drawingml/2006/main">
            <a:off x="6934200" y="4010025"/>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defRPr>
            </a:pPr>
            <a:r>
              <a:rPr sz="1650" b="0">
                <a:solidFill>
                  <a:srgbClr val="111111"/>
                </a:solidFill>
              </a:rPr>
              <a:t>결과·오류·안전 문구 화면 연결</a:t>
            </a:r>
          </a:p>
        </p:txBody>
      </p:sp>
      <p:sp>
        <p:nvSpPr>
          <p:cNvPr id="26" name="">
            <a:extLst xmlns:a="http://schemas.openxmlformats.org/drawingml/2006/main">
              <a:ext uri="{FF2B5EF4-FFF2-40B4-BE49-F238E27FC236}">
                <a16:creationId xmlns:a16="http://schemas.microsoft.com/office/drawing/2014/main" id="{BA1C0BA3-A588-40D4-813E-F25BF3296518}"/>
              </a:ext>
            </a:extLst>
          </p:cNvPr>
          <p:cNvSpPr>
            <a:spLocks xmlns:a="http://schemas.openxmlformats.org/drawingml/2006/main" noGrp="1"/>
          </p:cNvSpPr>
          <p:nvPr/>
        </p:nvSpPr>
        <p:spPr>
          <a:xfrm xmlns:a="http://schemas.openxmlformats.org/drawingml/2006/main">
            <a:off x="6534150" y="45910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3D8DFF"/>
                </a:solidFill>
              </a:defRPr>
            </a:pPr>
            <a:r>
              <a:rPr sz="1500" b="1">
                <a:solidFill>
                  <a:srgbClr val="3D8DFF"/>
                </a:solidFill>
              </a:rPr>
              <a:t>5</a:t>
            </a:r>
          </a:p>
        </p:txBody>
      </p:sp>
      <p:sp>
        <p:nvSpPr>
          <p:cNvPr id="27" name="">
            <a:extLst xmlns:a="http://schemas.openxmlformats.org/drawingml/2006/main">
              <a:ext uri="{FF2B5EF4-FFF2-40B4-BE49-F238E27FC236}">
                <a16:creationId xmlns:a16="http://schemas.microsoft.com/office/drawing/2014/main" id="{3EC4195E-5F17-48F0-9B71-F547BA580213}"/>
              </a:ext>
            </a:extLst>
          </p:cNvPr>
          <p:cNvSpPr>
            <a:spLocks xmlns:a="http://schemas.openxmlformats.org/drawingml/2006/main" noGrp="1"/>
          </p:cNvSpPr>
          <p:nvPr/>
        </p:nvSpPr>
        <p:spPr>
          <a:xfrm xmlns:a="http://schemas.openxmlformats.org/drawingml/2006/main">
            <a:off x="6934200" y="4562475"/>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defRPr>
            </a:pPr>
            <a:r>
              <a:rPr sz="1650" b="0">
                <a:solidFill>
                  <a:srgbClr val="111111"/>
                </a:solidFill>
              </a:rPr>
              <a:t>Docker 세로 흐름 통합 테스트</a:t>
            </a:r>
          </a:p>
        </p:txBody>
      </p:sp>
    </p:spTree>
    <p:extLst>
      <p:ext uri="{BB962C8B-B14F-4D97-AF65-F5344CB8AC3E}">
        <p14:creationId xmlns:p14="http://schemas.microsoft.com/office/powerpoint/2010/main" val="20006269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80B61A7-DC9C-47F6-A980-9D46ABC910C9}"/>
              </a:ext>
            </a:extLst>
          </p:cNvPr>
          <p:cNvSpPr>
            <a:spLocks xmlns:a="http://schemas.openxmlformats.org/drawingml/2006/main" noGrp="1"/>
          </p:cNvSpPr>
          <p:nvPr/>
        </p:nvSpPr>
        <p:spPr>
          <a:xfrm xmlns:a="http://schemas.openxmlformats.org/drawingml/2006/main">
            <a:off x="609600" y="3429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06 · MENTOR DECISIONS</a:t>
            </a:r>
          </a:p>
        </p:txBody>
      </p:sp>
      <p:sp>
        <p:nvSpPr>
          <p:cNvPr id="2" name="">
            <a:extLst xmlns:a="http://schemas.openxmlformats.org/drawingml/2006/main">
              <a:ext uri="{FF2B5EF4-FFF2-40B4-BE49-F238E27FC236}">
                <a16:creationId xmlns:a16="http://schemas.microsoft.com/office/drawing/2014/main" id="{0CCC5590-D1A3-4CFD-93A5-4254D59EABB2}"/>
              </a:ext>
            </a:extLst>
          </p:cNvPr>
          <p:cNvSpPr>
            <a:spLocks xmlns:a="http://schemas.openxmlformats.org/drawingml/2006/main" noGrp="1"/>
          </p:cNvSpPr>
          <p:nvPr/>
        </p:nvSpPr>
        <p:spPr>
          <a:xfrm xmlns:a="http://schemas.openxmlformats.org/drawingml/2006/main">
            <a:off x="609600" y="72390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11111"/>
                </a:solidFill>
              </a:defRPr>
            </a:pPr>
            <a:r>
              <a:rPr sz="3450" b="1">
                <a:solidFill>
                  <a:srgbClr val="111111"/>
                </a:solidFill>
              </a:rPr>
              <a:t>이번 멘토링에서 네 가지를 확정하고 싶습니다</a:t>
            </a:r>
          </a:p>
        </p:txBody>
      </p:sp>
      <p:sp>
        <p:nvSpPr>
          <p:cNvPr id="3" name="">
            <a:extLst xmlns:a="http://schemas.openxmlformats.org/drawingml/2006/main">
              <a:ext uri="{FF2B5EF4-FFF2-40B4-BE49-F238E27FC236}">
                <a16:creationId xmlns:a16="http://schemas.microsoft.com/office/drawing/2014/main" id="{9FE85D8F-754D-4F47-BC5E-7D3C801EA3E9}"/>
              </a:ext>
            </a:extLst>
          </p:cNvPr>
          <p:cNvSpPr>
            <a:spLocks xmlns:a="http://schemas.openxmlformats.org/drawingml/2006/main" noGrp="1"/>
          </p:cNvSpPr>
          <p:nvPr/>
        </p:nvSpPr>
        <p:spPr>
          <a:xfrm xmlns:a="http://schemas.openxmlformats.org/drawingml/2006/main">
            <a:off x="609600" y="1409700"/>
            <a:ext cx="10972800" cy="190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4" name="">
            <a:extLst xmlns:a="http://schemas.openxmlformats.org/drawingml/2006/main">
              <a:ext uri="{FF2B5EF4-FFF2-40B4-BE49-F238E27FC236}">
                <a16:creationId xmlns:a16="http://schemas.microsoft.com/office/drawing/2014/main" id="{C0FDEF28-79EF-4589-ABF3-AF062DED9C44}"/>
              </a:ext>
            </a:extLst>
          </p:cNvPr>
          <p:cNvSpPr>
            <a:spLocks xmlns:a="http://schemas.openxmlformats.org/drawingml/2006/main" noGrp="1"/>
          </p:cNvSpPr>
          <p:nvPr/>
        </p:nvSpPr>
        <p:spPr>
          <a:xfrm xmlns:a="http://schemas.openxmlformats.org/drawingml/2006/main">
            <a:off x="11201400" y="63627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0">
                <a:solidFill>
                  <a:srgbClr val="59606A"/>
                </a:solidFill>
              </a:defRPr>
            </a:pPr>
            <a:r>
              <a:rPr sz="1050" b="0">
                <a:solidFill>
                  <a:srgbClr val="59606A"/>
                </a:solidFill>
              </a:rPr>
              <a:t>07</a:t>
            </a:r>
          </a:p>
        </p:txBody>
      </p:sp>
      <p:sp>
        <p:nvSpPr>
          <p:cNvPr id="5" name="">
            <a:extLst xmlns:a="http://schemas.openxmlformats.org/drawingml/2006/main">
              <a:ext uri="{FF2B5EF4-FFF2-40B4-BE49-F238E27FC236}">
                <a16:creationId xmlns:a16="http://schemas.microsoft.com/office/drawing/2014/main" id="{B95C10C6-C494-4861-A29F-0F1C1E11B566}"/>
              </a:ext>
            </a:extLst>
          </p:cNvPr>
          <p:cNvSpPr>
            <a:spLocks xmlns:a="http://schemas.openxmlformats.org/drawingml/2006/main" noGrp="1"/>
          </p:cNvSpPr>
          <p:nvPr/>
        </p:nvSpPr>
        <p:spPr>
          <a:xfrm xmlns:a="http://schemas.openxmlformats.org/drawingml/2006/main">
            <a:off x="762000" y="188595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defRPr>
            </a:pPr>
            <a:r>
              <a:rPr sz="1725" b="1">
                <a:solidFill>
                  <a:srgbClr val="3D8DFF"/>
                </a:solidFill>
              </a:rPr>
              <a:t>01</a:t>
            </a:r>
          </a:p>
        </p:txBody>
      </p:sp>
      <p:sp>
        <p:nvSpPr>
          <p:cNvPr id="6" name="">
            <a:extLst xmlns:a="http://schemas.openxmlformats.org/drawingml/2006/main">
              <a:ext uri="{FF2B5EF4-FFF2-40B4-BE49-F238E27FC236}">
                <a16:creationId xmlns:a16="http://schemas.microsoft.com/office/drawing/2014/main" id="{06D657D5-720E-4963-AD4C-AF45A0E08DD9}"/>
              </a:ext>
            </a:extLst>
          </p:cNvPr>
          <p:cNvSpPr>
            <a:spLocks xmlns:a="http://schemas.openxmlformats.org/drawingml/2006/main" noGrp="1"/>
          </p:cNvSpPr>
          <p:nvPr/>
        </p:nvSpPr>
        <p:spPr>
          <a:xfrm xmlns:a="http://schemas.openxmlformats.org/drawingml/2006/main">
            <a:off x="1428750" y="1809750"/>
            <a:ext cx="952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111"/>
                </a:solidFill>
              </a:defRPr>
            </a:pPr>
            <a:r>
              <a:rPr sz="2025" b="1">
                <a:solidFill>
                  <a:srgbClr val="111111"/>
                </a:solidFill>
              </a:rPr>
              <a:t>낮은 AUPRC에도 KLoSA 미래 발병을 유지할까요?</a:t>
            </a:r>
          </a:p>
        </p:txBody>
      </p:sp>
      <p:sp>
        <p:nvSpPr>
          <p:cNvPr id="7" name="">
            <a:extLst xmlns:a="http://schemas.openxmlformats.org/drawingml/2006/main">
              <a:ext uri="{FF2B5EF4-FFF2-40B4-BE49-F238E27FC236}">
                <a16:creationId xmlns:a16="http://schemas.microsoft.com/office/drawing/2014/main" id="{4DE33D3F-3862-48B8-8D60-AD47B175649B}"/>
              </a:ext>
            </a:extLst>
          </p:cNvPr>
          <p:cNvSpPr>
            <a:spLocks xmlns:a="http://schemas.openxmlformats.org/drawingml/2006/main" noGrp="1"/>
          </p:cNvSpPr>
          <p:nvPr/>
        </p:nvSpPr>
        <p:spPr>
          <a:xfrm xmlns:a="http://schemas.openxmlformats.org/drawingml/2006/main">
            <a:off x="1428750" y="2419350"/>
            <a:ext cx="95250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8" name="">
            <a:extLst xmlns:a="http://schemas.openxmlformats.org/drawingml/2006/main">
              <a:ext uri="{FF2B5EF4-FFF2-40B4-BE49-F238E27FC236}">
                <a16:creationId xmlns:a16="http://schemas.microsoft.com/office/drawing/2014/main" id="{5E14FCF9-C4D2-4823-AA43-25E0760ED233}"/>
              </a:ext>
            </a:extLst>
          </p:cNvPr>
          <p:cNvSpPr>
            <a:spLocks xmlns:a="http://schemas.openxmlformats.org/drawingml/2006/main" noGrp="1"/>
          </p:cNvSpPr>
          <p:nvPr/>
        </p:nvSpPr>
        <p:spPr>
          <a:xfrm xmlns:a="http://schemas.openxmlformats.org/drawingml/2006/main">
            <a:off x="762000" y="286702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defRPr>
            </a:pPr>
            <a:r>
              <a:rPr sz="1725" b="1">
                <a:solidFill>
                  <a:srgbClr val="3D8DFF"/>
                </a:solidFill>
              </a:rPr>
              <a:t>02</a:t>
            </a:r>
          </a:p>
        </p:txBody>
      </p:sp>
      <p:sp>
        <p:nvSpPr>
          <p:cNvPr id="9" name="">
            <a:extLst xmlns:a="http://schemas.openxmlformats.org/drawingml/2006/main">
              <a:ext uri="{FF2B5EF4-FFF2-40B4-BE49-F238E27FC236}">
                <a16:creationId xmlns:a16="http://schemas.microsoft.com/office/drawing/2014/main" id="{D193154B-EA90-4B68-8A6B-A03DCC828285}"/>
              </a:ext>
            </a:extLst>
          </p:cNvPr>
          <p:cNvSpPr>
            <a:spLocks xmlns:a="http://schemas.openxmlformats.org/drawingml/2006/main" noGrp="1"/>
          </p:cNvSpPr>
          <p:nvPr/>
        </p:nvSpPr>
        <p:spPr>
          <a:xfrm xmlns:a="http://schemas.openxmlformats.org/drawingml/2006/main">
            <a:off x="1428750" y="2790825"/>
            <a:ext cx="952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111"/>
                </a:solidFill>
              </a:defRPr>
            </a:pPr>
            <a:r>
              <a:rPr sz="2025" b="1">
                <a:solidFill>
                  <a:srgbClr val="111111"/>
                </a:solidFill>
              </a:rPr>
              <a:t>40–44세 근거 공백은 안내만 제공하는 방식이 적절할까요?</a:t>
            </a:r>
          </a:p>
        </p:txBody>
      </p:sp>
      <p:sp>
        <p:nvSpPr>
          <p:cNvPr id="10" name="">
            <a:extLst xmlns:a="http://schemas.openxmlformats.org/drawingml/2006/main">
              <a:ext uri="{FF2B5EF4-FFF2-40B4-BE49-F238E27FC236}">
                <a16:creationId xmlns:a16="http://schemas.microsoft.com/office/drawing/2014/main" id="{ED1BF3BD-7202-4807-A61D-74DD4784B35E}"/>
              </a:ext>
            </a:extLst>
          </p:cNvPr>
          <p:cNvSpPr>
            <a:spLocks xmlns:a="http://schemas.openxmlformats.org/drawingml/2006/main" noGrp="1"/>
          </p:cNvSpPr>
          <p:nvPr/>
        </p:nvSpPr>
        <p:spPr>
          <a:xfrm xmlns:a="http://schemas.openxmlformats.org/drawingml/2006/main">
            <a:off x="1428750" y="3400425"/>
            <a:ext cx="95250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D3361396-FF25-4D28-AA16-BD552CC1482E}"/>
              </a:ext>
            </a:extLst>
          </p:cNvPr>
          <p:cNvSpPr>
            <a:spLocks xmlns:a="http://schemas.openxmlformats.org/drawingml/2006/main" noGrp="1"/>
          </p:cNvSpPr>
          <p:nvPr/>
        </p:nvSpPr>
        <p:spPr>
          <a:xfrm xmlns:a="http://schemas.openxmlformats.org/drawingml/2006/main">
            <a:off x="762000" y="38481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defRPr>
            </a:pPr>
            <a:r>
              <a:rPr sz="1725" b="1">
                <a:solidFill>
                  <a:srgbClr val="3D8DFF"/>
                </a:solidFill>
              </a:rPr>
              <a:t>03</a:t>
            </a:r>
          </a:p>
        </p:txBody>
      </p:sp>
      <p:sp>
        <p:nvSpPr>
          <p:cNvPr id="12" name="">
            <a:extLst xmlns:a="http://schemas.openxmlformats.org/drawingml/2006/main">
              <a:ext uri="{FF2B5EF4-FFF2-40B4-BE49-F238E27FC236}">
                <a16:creationId xmlns:a16="http://schemas.microsoft.com/office/drawing/2014/main" id="{5AFDC264-1287-4C7A-9E7F-4B795C8469FB}"/>
              </a:ext>
            </a:extLst>
          </p:cNvPr>
          <p:cNvSpPr>
            <a:spLocks xmlns:a="http://schemas.openxmlformats.org/drawingml/2006/main" noGrp="1"/>
          </p:cNvSpPr>
          <p:nvPr/>
        </p:nvSpPr>
        <p:spPr>
          <a:xfrm xmlns:a="http://schemas.openxmlformats.org/drawingml/2006/main">
            <a:off x="1428750" y="3771900"/>
            <a:ext cx="952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111"/>
                </a:solidFill>
              </a:defRPr>
            </a:pPr>
            <a:r>
              <a:rPr sz="2025" b="1">
                <a:solidFill>
                  <a:srgbClr val="111111"/>
                </a:solidFill>
              </a:rPr>
              <a:t>임계값은 민감도와 위양성 중 무엇을 우선해야 할까요?</a:t>
            </a:r>
          </a:p>
        </p:txBody>
      </p:sp>
      <p:sp>
        <p:nvSpPr>
          <p:cNvPr id="13" name="">
            <a:extLst xmlns:a="http://schemas.openxmlformats.org/drawingml/2006/main">
              <a:ext uri="{FF2B5EF4-FFF2-40B4-BE49-F238E27FC236}">
                <a16:creationId xmlns:a16="http://schemas.microsoft.com/office/drawing/2014/main" id="{799B89C9-615C-4A66-875F-9056819B5E6C}"/>
              </a:ext>
            </a:extLst>
          </p:cNvPr>
          <p:cNvSpPr>
            <a:spLocks xmlns:a="http://schemas.openxmlformats.org/drawingml/2006/main" noGrp="1"/>
          </p:cNvSpPr>
          <p:nvPr/>
        </p:nvSpPr>
        <p:spPr>
          <a:xfrm xmlns:a="http://schemas.openxmlformats.org/drawingml/2006/main">
            <a:off x="1428750" y="4381500"/>
            <a:ext cx="95250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4" name="">
            <a:extLst xmlns:a="http://schemas.openxmlformats.org/drawingml/2006/main">
              <a:ext uri="{FF2B5EF4-FFF2-40B4-BE49-F238E27FC236}">
                <a16:creationId xmlns:a16="http://schemas.microsoft.com/office/drawing/2014/main" id="{56AC90D7-77C6-4172-942D-6352FAD8B39E}"/>
              </a:ext>
            </a:extLst>
          </p:cNvPr>
          <p:cNvSpPr>
            <a:spLocks xmlns:a="http://schemas.openxmlformats.org/drawingml/2006/main" noGrp="1"/>
          </p:cNvSpPr>
          <p:nvPr/>
        </p:nvSpPr>
        <p:spPr>
          <a:xfrm xmlns:a="http://schemas.openxmlformats.org/drawingml/2006/main">
            <a:off x="762000" y="4829175"/>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3D8DFF"/>
                </a:solidFill>
              </a:defRPr>
            </a:pPr>
            <a:r>
              <a:rPr sz="1725" b="1">
                <a:solidFill>
                  <a:srgbClr val="3D8DFF"/>
                </a:solidFill>
              </a:rPr>
              <a:t>04</a:t>
            </a:r>
          </a:p>
        </p:txBody>
      </p:sp>
      <p:sp>
        <p:nvSpPr>
          <p:cNvPr id="15" name="">
            <a:extLst xmlns:a="http://schemas.openxmlformats.org/drawingml/2006/main">
              <a:ext uri="{FF2B5EF4-FFF2-40B4-BE49-F238E27FC236}">
                <a16:creationId xmlns:a16="http://schemas.microsoft.com/office/drawing/2014/main" id="{C9A8A833-AA7D-49C3-83C3-A6DB7820B9F2}"/>
              </a:ext>
            </a:extLst>
          </p:cNvPr>
          <p:cNvSpPr>
            <a:spLocks xmlns:a="http://schemas.openxmlformats.org/drawingml/2006/main" noGrp="1"/>
          </p:cNvSpPr>
          <p:nvPr/>
        </p:nvSpPr>
        <p:spPr>
          <a:xfrm xmlns:a="http://schemas.openxmlformats.org/drawingml/2006/main">
            <a:off x="1428750" y="4752975"/>
            <a:ext cx="952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11111"/>
                </a:solidFill>
              </a:defRPr>
            </a:pPr>
            <a:r>
              <a:rPr sz="2025" b="1">
                <a:solidFill>
                  <a:srgbClr val="111111"/>
                </a:solidFill>
              </a:rPr>
              <a:t>Redis 비동기 워커 구조가 현재 MVP 범위에 적절할까요?</a:t>
            </a:r>
          </a:p>
        </p:txBody>
      </p:sp>
      <p:sp>
        <p:nvSpPr>
          <p:cNvPr id="16" name="">
            <a:extLst xmlns:a="http://schemas.openxmlformats.org/drawingml/2006/main">
              <a:ext uri="{FF2B5EF4-FFF2-40B4-BE49-F238E27FC236}">
                <a16:creationId xmlns:a16="http://schemas.microsoft.com/office/drawing/2014/main" id="{EB6133A4-08AC-4BE0-99E1-76CC792536FB}"/>
              </a:ext>
            </a:extLst>
          </p:cNvPr>
          <p:cNvSpPr>
            <a:spLocks xmlns:a="http://schemas.openxmlformats.org/drawingml/2006/main" noGrp="1"/>
          </p:cNvSpPr>
          <p:nvPr/>
        </p:nvSpPr>
        <p:spPr>
          <a:xfrm xmlns:a="http://schemas.openxmlformats.org/drawingml/2006/main">
            <a:off x="1428750" y="5362575"/>
            <a:ext cx="952500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A66DBB25-FB1F-49A4-9F30-1BF48FA1A193}"/>
              </a:ext>
            </a:extLst>
          </p:cNvPr>
          <p:cNvSpPr>
            <a:spLocks xmlns:a="http://schemas.openxmlformats.org/drawingml/2006/main" noGrp="1"/>
          </p:cNvSpPr>
          <p:nvPr/>
        </p:nvSpPr>
        <p:spPr>
          <a:xfrm xmlns:a="http://schemas.openxmlformats.org/drawingml/2006/main">
            <a:off x="1428750" y="5857875"/>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9606A"/>
                </a:solidFill>
              </a:defRPr>
            </a:pPr>
            <a:r>
              <a:rPr sz="1725" b="0">
                <a:solidFill>
                  <a:srgbClr val="59606A"/>
                </a:solidFill>
              </a:rPr>
              <a:t>결정 즉시 모델 카드·API·화면·테스트에 반영하겠습니다.</a:t>
            </a:r>
          </a:p>
        </p:txBody>
      </p:sp>
    </p:spTree>
    <p:extLst>
      <p:ext uri="{BB962C8B-B14F-4D97-AF65-F5344CB8AC3E}">
        <p14:creationId xmlns:p14="http://schemas.microsoft.com/office/powerpoint/2010/main" val="17688628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2026-08-20T09:38:04.6890000Z</dcterms:created>
  <dcterms:modified xsi:type="dcterms:W3CDTF">2026-08-20T09:38:04.6890000Z</dcterms:modified>
</coreProperties>
</file>